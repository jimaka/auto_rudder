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4000" b="1">
                <a:solidFill>
                  <a:srgbClr val="FFFFFF"/>
                </a:solidFill>
                <a:latin typeface="Noto Sans CJK SC"/>
                <a:ea typeface="Noto Sans CJK SC"/>
              </a:rPr>
              <a:t>自动舵自适应算法调研与最大海况适应性分析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2400" b="0">
                <a:solidFill>
                  <a:srgbClr val="BDD0EA"/>
                </a:solidFill>
                <a:latin typeface="Noto Sans CJK SC"/>
                <a:ea typeface="Noto Sans CJK SC"/>
              </a:rPr>
              <a:t>技术调研汇报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</a:rPr>
              <a:t>面向项目：auto_rudder —— 25 kn 游艇自动舵（PD + 增益调度 + ESC 在线调参）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BDD0EA"/>
                </a:solidFill>
                <a:latin typeface="Noto Sans CJK SC"/>
                <a:ea typeface="Noto Sans CJK SC"/>
              </a:rPr>
              <a:t>调研日期：2026-08 · 数据来源：八类算法一手文献逐条核验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调研背景与目的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为什么现在看自适应算法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113385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Noto Sans CJK SC"/>
                <a:ea typeface="Noto Sans CJK SC"/>
              </a:rPr>
              <a:t>▪ 项目现状：</a:t>
            </a:r>
            <a:r>
              <a:rPr sz="1500" b="0">
                <a:solidFill>
                  <a:srgbClr val="595959"/>
                </a:solidFill>
                <a:latin typeface="Noto Sans CJK SC"/>
                <a:ea typeface="Noto Sans CJK SC"/>
              </a:rPr>
              <a:t>PD 控制器 + 海况(0–3 级)×船速段增益调度 + ESC 在线辨识 Nomoto K/T 并做极点配置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Noto Sans CJK SC"/>
                <a:ea typeface="Noto Sans CJK SC"/>
              </a:rPr>
              <a:t>▪ 核心问题：</a:t>
            </a:r>
            <a:r>
              <a:rPr sz="1500" b="0">
                <a:solidFill>
                  <a:srgbClr val="595959"/>
                </a:solidFill>
                <a:latin typeface="Noto Sans CJK SC"/>
                <a:ea typeface="Noto Sans CJK SC"/>
              </a:rPr>
              <a:t>现有调度域只覆盖轻浪及以下，海况 4–5（H₁/₃ 1.25–4 m）是 25 kn 游艇常规运营上限，方案能否扛住？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Noto Sans CJK SC"/>
                <a:ea typeface="Noto Sans CJK SC"/>
              </a:rPr>
              <a:t>▪ 调研范围：</a:t>
            </a:r>
            <a:r>
              <a:rPr sz="1500" b="0">
                <a:solidFill>
                  <a:srgbClr val="595959"/>
                </a:solidFill>
                <a:latin typeface="Noto Sans CJK SC"/>
                <a:ea typeface="Noto Sans CJK SC"/>
              </a:rPr>
              <a:t>八类自适应算法（MRAC / STR·LQG / 自适应PID·增益调度 / 模糊 / 神经网络 / L1·滑模 / 强化学习）+ 航迹舵、舵减摇、自适应 MPC、验证方法四个扩展专题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1F3864"/>
                </a:solidFill>
                <a:latin typeface="Noto Sans CJK SC"/>
                <a:ea typeface="Noto Sans CJK SC"/>
              </a:rPr>
              <a:t>▪ 分析方法：</a:t>
            </a:r>
            <a:r>
              <a:rPr sz="1500" b="0">
                <a:solidFill>
                  <a:srgbClr val="595959"/>
                </a:solidFill>
                <a:latin typeface="Noto Sans CJK SC"/>
                <a:ea typeface="Noto Sans CJK SC"/>
              </a:rPr>
              <a:t>从扰动机理出发逐类评估最大海况可行性，关键数据全部回溯一手来源核验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977639"/>
            <a:ext cx="274320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自适应自动舵工程积累</a:t>
            </a:r>
          </a:p>
          <a:p>
            <a:pPr algn="ctr"/>
            <a:r>
              <a:rPr sz="1300" b="1">
                <a:solidFill>
                  <a:srgbClr val="2E7D32"/>
                </a:solidFill>
                <a:latin typeface="Noto Sans CJK SC"/>
                <a:ea typeface="Noto Sans CJK SC"/>
              </a:rPr>
              <a:t>50 年实船验证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3977639"/>
            <a:ext cx="274320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KADPIL 自校正油轮舵</a:t>
            </a:r>
          </a:p>
          <a:p>
            <a:pPr algn="ctr"/>
            <a:r>
              <a:rPr sz="1300" b="1">
                <a:solidFill>
                  <a:srgbClr val="2E7D32"/>
                </a:solidFill>
                <a:latin typeface="Noto Sans CJK SC"/>
                <a:ea typeface="Noto Sans CJK SC"/>
              </a:rPr>
              <a:t>130+ 次实船试验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977639"/>
            <a:ext cx="274320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恶劣海况节油收益</a:t>
            </a:r>
          </a:p>
          <a:p>
            <a:pPr algn="ctr"/>
            <a:r>
              <a:rPr sz="1300" b="1">
                <a:solidFill>
                  <a:srgbClr val="2E75B6"/>
                </a:solidFill>
                <a:latin typeface="Noto Sans CJK SC"/>
                <a:ea typeface="Noto Sans CJK SC"/>
              </a:rPr>
              <a:t>0.3–0.9%（大风 1.4%）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3977639"/>
            <a:ext cx="274320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本项目设计上限海况</a:t>
            </a:r>
          </a:p>
          <a:p>
            <a:pPr algn="ctr"/>
            <a:r>
              <a:rPr sz="1300" b="1">
                <a:solidFill>
                  <a:srgbClr val="C5500B"/>
                </a:solidFill>
                <a:latin typeface="Noto Sans CJK SC"/>
                <a:ea typeface="Noto Sans CJK SC"/>
              </a:rPr>
              <a:t>4–5 级（H₁/₃ ≈ 2–4 m）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029200"/>
            <a:ext cx="113385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C00000"/>
                </a:solidFill>
                <a:latin typeface="Noto Sans CJK SC"/>
                <a:ea typeface="Noto Sans CJK SC"/>
              </a:rPr>
              <a:t>核心判断：</a:t>
            </a:r>
            <a:r>
              <a:rPr sz="1600" b="0">
                <a:solidFill>
                  <a:srgbClr val="595959"/>
                </a:solidFill>
                <a:latin typeface="Noto Sans CJK SC"/>
                <a:ea typeface="Noto Sans CJK SC"/>
              </a:rPr>
              <a:t>恶劣海况恰是自适应收益最大、同时失效风险也最高的工况——收益与风险同源：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95959"/>
                </a:solidFill>
                <a:latin typeface="Noto Sans CJK SC"/>
                <a:ea typeface="Noto Sans CJK SC"/>
              </a:rPr>
              <a:t>波浪激励既提供辨识信号，也会误导自适应律。因此“高海况三要素”先于算法选型。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八类自适应算法总览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自适应对象 · 实船成熟度 · 最大海况（4–5 级）可行性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8427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406"/>
                <a:gridCol w="2511238"/>
                <a:gridCol w="1841574"/>
                <a:gridCol w="3013485"/>
                <a:gridCol w="1841574"/>
              </a:tblGrid>
              <a:tr h="5689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算法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自适应对象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成熟度（实船）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海况 4–5 可行性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代表工作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MRAC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控制器增益（直接）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高 · 1970s 商用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可用：陷波+慢自适应+抗饱和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Van Amerongen 1984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STR / LQG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模型参数（RLS+MV/LQ）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高 · KADPIL 商用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可用：高海况收益最大，需滤波防有偏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Källström 1979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增益调度+自适应PID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增益查表 / 在线整定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E7D32"/>
                          </a:solidFill>
                          <a:latin typeface="Noto Sans CJK SC"/>
                          <a:ea typeface="Noto Sans CJK SC"/>
                        </a:rPr>
                        <a:t>极高 · 行业标准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E7D32"/>
                          </a:solidFill>
                          <a:latin typeface="Noto Sans CJK SC"/>
                          <a:ea typeface="Noto Sans CJK SC"/>
                        </a:rPr>
                        <a:t>最好：扩展调度域即可行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Kongsberg 等商用舵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模糊自适应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增益曲面 / 规则库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中 · 少量实船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可用：必须配波浪滤波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Tomera 2017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神经网络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未知非线性函数逼近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中 · 仿真为主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C5500B"/>
                          </a:solidFill>
                          <a:latin typeface="Noto Sans CJK SC"/>
                          <a:ea typeface="Noto Sans CJK SC"/>
                        </a:rPr>
                        <a:t>受限：分布外无保证，仅限幅补偿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李铁山/张显库谱系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L1 自适应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快自适应+低通解耦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中高 · 航空已商用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E7D32"/>
                          </a:solidFill>
                          <a:latin typeface="Noto Sans CJK SC"/>
                          <a:ea typeface="Noto Sans CJK SC"/>
                        </a:rPr>
                        <a:t>好：鲁棒性可量化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Xu 2021；Raymarine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自适应滑模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切换增益 / 扰动界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中高 · Shioji-Maru 海试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好：需边界层/超螺旋抑抖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Perera 2012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强化学习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端到端控制策略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C00000"/>
                          </a:solidFill>
                          <a:latin typeface="Noto Sans CJK SC"/>
                          <a:ea typeface="Noto Sans CJK SC"/>
                        </a:rPr>
                        <a:t>低 · 个别真船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C00000"/>
                          </a:solidFill>
                          <a:latin typeface="Noto Sans CJK SC"/>
                          <a:ea typeface="Noto Sans CJK SC"/>
                        </a:rPr>
                        <a:t>弱：仅离线冻结或监督下微调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Cui 2019（SPMPC）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35508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595959"/>
                </a:solidFill>
                <a:latin typeface="Noto Sans CJK SC"/>
                <a:ea typeface="Noto Sans CJK SC"/>
              </a:rPr>
              <a:t>注：海况 ≥6 时一切算法均以安全降级（保船）为目标，而非航向精度。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① MRAC 模型参考自适应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第 1 章 · 让实际响应跟踪参考模型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6309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原理一句话：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以 Norrbin/Nomoto 一阶参考模型为标杆，用 MIT/Lyapunov 律直接调整控制器增益，使航向响应跟踪模型输出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经典方案：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Van Amerongen MRAC 自动舵（1970–80s 商用）；Lauvdal &amp; Fossen 只需艏向量测、陷波+积分增广，证明全局收敛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高海况风险：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波浪激励是“假 PE 信号”，会把波频振荡当模型误差拟合导致参数漂移；舵饱和使输出误差型辨识出错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对策：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量测先陷波再辨识、输入误差方案抗饱和、dead-zone 冻结 + σ-泄漏项、参数冻结时保留显式积分通道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对本项目：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串联一阶参考模型（带转艏速率限幅）做设定值整形，成本极低、可立即借鉴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实船成熟度</a:t>
            </a:r>
          </a:p>
          <a:p>
            <a:pPr algn="ctr"/>
            <a:r>
              <a:rPr sz="1300" b="1">
                <a:solidFill>
                  <a:srgbClr val="2E7D32"/>
                </a:solidFill>
                <a:latin typeface="Noto Sans CJK SC"/>
                <a:ea typeface="Noto Sans CJK SC"/>
              </a:rPr>
              <a:t>高（1970s 商用）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海况 4–5</a:t>
            </a:r>
          </a:p>
          <a:p>
            <a:pPr algn="ctr"/>
            <a:r>
              <a:rPr sz="1300" b="1">
                <a:solidFill>
                  <a:srgbClr val="2E75B6"/>
                </a:solidFill>
                <a:latin typeface="Noto Sans CJK SC"/>
                <a:ea typeface="Noto Sans CJK SC"/>
              </a:rPr>
              <a:t>可用（配滤波+鲁棒化）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关键前提</a:t>
            </a:r>
          </a:p>
          <a:p>
            <a:pPr algn="ctr"/>
            <a:r>
              <a:rPr sz="1300" b="1">
                <a:solidFill>
                  <a:srgbClr val="C5500B"/>
                </a:solidFill>
                <a:latin typeface="Noto Sans CJK SC"/>
                <a:ea typeface="Noto Sans CJK SC"/>
              </a:rPr>
              <a:t>波浪滤波先行</a:t>
            </a:r>
          </a:p>
        </p:txBody>
      </p:sp>
      <p:pic>
        <p:nvPicPr>
          <p:cNvPr id="8" name="Picture 7" descr="fig_01_mrac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22730"/>
            <a:ext cx="4892040" cy="25438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98348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图：MRAC 自动舵结构（参考模型 + 自适应律）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② STR / LQG 自校正调节器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第 2 章 · 辨识与控制一体化，节油证据最充分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6309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原理一句话：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RLS 在线递推辨识船舶模型参数，按最小方差/LQ 准则实时重算控制律（间接自适应）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里程碑：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Källström/Åström 油轮自校正舵 KADPIL，1974 起商用，130 余次实船试验，节油 0.3–0.9%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恶劣海况收益更大：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8 级风下节油增益 1.4%，远高于和风下的 0.5% —— 自适应的主战场正是高海况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高海况风险：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协方差阵被波频能量“污染”致 K/T 估计发散；信噪比恶化；协方差 wind-up 后失去跟踪能力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对本项目：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GMV 代价 J=E[ψe²+λδ²]（λ≈1/12）可直接升级为 ESC 寻优目标——从“航向误差最小”到“操舵阻力最小”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实船成熟度</a:t>
            </a:r>
          </a:p>
          <a:p>
            <a:pPr algn="ctr"/>
            <a:r>
              <a:rPr sz="1300" b="1">
                <a:solidFill>
                  <a:srgbClr val="2E7D32"/>
                </a:solidFill>
                <a:latin typeface="Noto Sans CJK SC"/>
                <a:ea typeface="Noto Sans CJK SC"/>
              </a:rPr>
              <a:t>高（KADPIL 商用）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海况 4–5</a:t>
            </a:r>
          </a:p>
          <a:p>
            <a:pPr algn="ctr"/>
            <a:r>
              <a:rPr sz="1300" b="1">
                <a:solidFill>
                  <a:srgbClr val="C5500B"/>
                </a:solidFill>
                <a:latin typeface="Noto Sans CJK SC"/>
                <a:ea typeface="Noto Sans CJK SC"/>
              </a:rPr>
              <a:t>须冻结/强鲁棒化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关键教训</a:t>
            </a:r>
          </a:p>
          <a:p>
            <a:pPr algn="ctr"/>
            <a:r>
              <a:rPr sz="1300" b="1">
                <a:solidFill>
                  <a:srgbClr val="2E75B6"/>
                </a:solidFill>
                <a:latin typeface="Noto Sans CJK SC"/>
                <a:ea typeface="Noto Sans CJK SC"/>
              </a:rPr>
              <a:t>监控残差白性防有偏</a:t>
            </a:r>
          </a:p>
        </p:txBody>
      </p:sp>
      <p:pic>
        <p:nvPicPr>
          <p:cNvPr id="8" name="Picture 7" descr="fig_02_fuel_sav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70817"/>
            <a:ext cx="4892040" cy="26476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98348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图：自校正 vs 固定增益的操舵附加阻力/节油对比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③ 增益调度 + 自适应 PID（本项目基线）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第 3 章 · 商用自动舵的事实标准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6309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原理一句话：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Nomoto 航速标度律 K=K′U/L、T=T′L/U 把航速变化解析吸收，海况等慢变量用调度表/在线整定补偿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行业实践：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Kongsberg / Anschütz / Sperry 等主流商用舵均为“调度管快变量、自适应管慢变量”分层结构——与本项目同构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高海况风险：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调度表只覆盖标称域（本项目 0–3 级），海况 4–5 外插失效；调度变量估计误差引起增益在边界抖动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对策：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扩展调度域并经仿真/HIL 验证边界海况；调度变量加滞回与速率限制；增益保守方向“宁低勿高”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定位：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结构最简单、行为最可预测，是高海况下的安全兜底方案；短板是固定表格无法主动适应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实船成熟度</a:t>
            </a:r>
          </a:p>
          <a:p>
            <a:pPr algn="ctr"/>
            <a:r>
              <a:rPr sz="1300" b="1">
                <a:solidFill>
                  <a:srgbClr val="2E7D32"/>
                </a:solidFill>
                <a:latin typeface="Noto Sans CJK SC"/>
                <a:ea typeface="Noto Sans CJK SC"/>
              </a:rPr>
              <a:t>极高（行业标准）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海况 4–5</a:t>
            </a:r>
          </a:p>
          <a:p>
            <a:pPr algn="ctr"/>
            <a:r>
              <a:rPr sz="1300" b="1">
                <a:solidFill>
                  <a:srgbClr val="2E7D32"/>
                </a:solidFill>
                <a:latin typeface="Noto Sans CJK SC"/>
                <a:ea typeface="Noto Sans CJK SC"/>
              </a:rPr>
              <a:t>最好（扩展调度域后）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IMO 要求</a:t>
            </a:r>
          </a:p>
          <a:p>
            <a:pPr algn="ctr"/>
            <a:r>
              <a:rPr sz="1300" b="1">
                <a:solidFill>
                  <a:srgbClr val="2E75B6"/>
                </a:solidFill>
                <a:latin typeface="Noto Sans CJK SC"/>
                <a:ea typeface="Noto Sans CJK SC"/>
              </a:rPr>
              <a:t>速度调度须接航速传感器</a:t>
            </a:r>
          </a:p>
        </p:txBody>
      </p:sp>
      <p:pic>
        <p:nvPicPr>
          <p:cNvPr id="8" name="Picture 7" descr="fig_03_gainsched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615994"/>
            <a:ext cx="4892040" cy="27573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98348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图：增益调度自动舵结构（海况×船速调度表）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④ 模糊自适应控制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第 4 章 · 把舵手经验变成增益曲面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6309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原理一句话：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以航向误差与转向率为输入，规则库推理输出增益/舵令修正；自组织模糊（SOC）可在线修正规则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鼻祖工作：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van Amerongen 首个模糊自动舵（1977）——噪声环境下打舵次数显著少于 PID；ANFIS 神经-模糊为近年进展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与增益调度关系：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模糊调度本质是平滑的非线性查表，可消除调度面分区边界的增益跳变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高海况风险：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舵手经验集中在常见海况，最大海况恰是规则库覆盖最差区域；自适应模糊同样会被波浪“假激励”误导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对策：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规则库按海况分组调度、输出限幅、与 PD 基线并行监督切换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实船成熟度</a:t>
            </a:r>
          </a:p>
          <a:p>
            <a:pPr algn="ctr"/>
            <a:r>
              <a:rPr sz="1300" b="1">
                <a:solidFill>
                  <a:srgbClr val="C5500B"/>
                </a:solidFill>
                <a:latin typeface="Noto Sans CJK SC"/>
                <a:ea typeface="Noto Sans CJK SC"/>
              </a:rPr>
              <a:t>中（少量实船）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海况 4–5</a:t>
            </a:r>
          </a:p>
          <a:p>
            <a:pPr algn="ctr"/>
            <a:r>
              <a:rPr sz="1300" b="1">
                <a:solidFill>
                  <a:srgbClr val="2E75B6"/>
                </a:solidFill>
                <a:latin typeface="Noto Sans CJK SC"/>
                <a:ea typeface="Noto Sans CJK SC"/>
              </a:rPr>
              <a:t>可用（取决规则覆盖度）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对本项目</a:t>
            </a:r>
          </a:p>
          <a:p>
            <a:pPr algn="ctr"/>
            <a:r>
              <a:rPr sz="1300" b="1">
                <a:solidFill>
                  <a:srgbClr val="2E75B6"/>
                </a:solidFill>
                <a:latin typeface="Noto Sans CJK SC"/>
                <a:ea typeface="Noto Sans CJK SC"/>
              </a:rPr>
              <a:t>平滑调度表边界（P2）</a:t>
            </a:r>
          </a:p>
        </p:txBody>
      </p:sp>
      <p:pic>
        <p:nvPicPr>
          <p:cNvPr id="8" name="Picture 7" descr="fig_04_fuzzy_autopilot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900388"/>
            <a:ext cx="4892040" cy="21885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98348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图：模糊自动舵结构（模糊化-推理-解模糊）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⑤ 神经网络自适应控制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第 5 章 · 逼近未知非线性，但外插无保证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6309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原理一句话：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用 NN 逼近未建模动态/不确定项，与反步法、滑模或自适应逆控制复合，Lyapunov 律在线调权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三类主流结构：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NN 自适应逆控制；NN+自适应反步；NN 观测器处理不可测状态与时变海况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核心困境：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保向工况下持续激励（PE）天然不满足，需权值投影、学习死区、软启动防漂移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高海况风险：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泛化是最大软肋——训练分布不可能覆盖最大海况，外插区域输出不可预测；在线学习律被波频分量误导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结论：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不宜单独承担最大海况任务；作为可证明稳定基线上的限幅补偿项可用，但验证成本高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实船成熟度</a:t>
            </a:r>
          </a:p>
          <a:p>
            <a:pPr algn="ctr"/>
            <a:r>
              <a:rPr sz="1300" b="1">
                <a:solidFill>
                  <a:srgbClr val="C5500B"/>
                </a:solidFill>
                <a:latin typeface="Noto Sans CJK SC"/>
                <a:ea typeface="Noto Sans CJK SC"/>
              </a:rPr>
              <a:t>中（仿真为主）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海况 4–5</a:t>
            </a:r>
          </a:p>
          <a:p>
            <a:pPr algn="ctr"/>
            <a:r>
              <a:rPr sz="1300" b="1">
                <a:solidFill>
                  <a:srgbClr val="C00000"/>
                </a:solidFill>
                <a:latin typeface="Noto Sans CJK SC"/>
                <a:ea typeface="Noto Sans CJK SC"/>
              </a:rPr>
              <a:t>受限（仅限幅补偿）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关键措施</a:t>
            </a:r>
          </a:p>
          <a:p>
            <a:pPr algn="ctr"/>
            <a:r>
              <a:rPr sz="1300" b="1">
                <a:solidFill>
                  <a:srgbClr val="2E75B6"/>
                </a:solidFill>
                <a:latin typeface="Noto Sans CJK SC"/>
                <a:ea typeface="Noto Sans CJK SC"/>
              </a:rPr>
              <a:t>dead-zone + 参数投影</a:t>
            </a:r>
          </a:p>
        </p:txBody>
      </p:sp>
      <p:pic>
        <p:nvPicPr>
          <p:cNvPr id="8" name="Picture 7" descr="fig_05_nn_adaptive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85071"/>
            <a:ext cx="4892040" cy="241917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98348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图：NN 自适应控制结构（基线控制器 + NN 补偿）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⑥ 鲁棒自适应：L1 自适应与自适应滑模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第 6 章 · 理论保证最完备的一族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6309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L1 原理：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在自适应律与控制输入之间插入低通滤波器，把“快自适应”与“鲁棒性”解耦——自适应可很快，进控制通道的只有低频分量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L1 工程证据：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已商用于 Raymarine Evolution 系列船用自动舵，丹麦皇家海军无人艇实艇验证；结构上天然契合“自适应+波浪滤波”分层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滑模原理：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切换增益自适应覆盖扰动上界，对参数摄动与时变波浪扰动鲁棒（Shioji-Maru 海试）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滑模代价：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抖振与舵机磨损直接冲突，高海况下被大浪放大——需边界层/超螺旋（STA）+ 扰动观测器降切换增益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对本项目：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若未来叠加自适应增广层，超螺旋滑模工程量最小、L1 理论保证最完备，且与“ESC 慢调参”时间尺度分离同构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实船成熟度</a:t>
            </a:r>
          </a:p>
          <a:p>
            <a:pPr algn="ctr"/>
            <a:r>
              <a:rPr sz="1300" b="1">
                <a:solidFill>
                  <a:srgbClr val="2E7D32"/>
                </a:solidFill>
                <a:latin typeface="Noto Sans CJK SC"/>
                <a:ea typeface="Noto Sans CJK SC"/>
              </a:rPr>
              <a:t>中高（L1 已商用）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海况 4–5</a:t>
            </a:r>
          </a:p>
          <a:p>
            <a:pPr algn="ctr"/>
            <a:r>
              <a:rPr sz="1300" b="1">
                <a:solidFill>
                  <a:srgbClr val="2E7D32"/>
                </a:solidFill>
                <a:latin typeface="Noto Sans CJK SC"/>
                <a:ea typeface="Noto Sans CJK SC"/>
              </a:rPr>
              <a:t>好（可行性最优档）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升级路径</a:t>
            </a:r>
          </a:p>
          <a:p>
            <a:pPr algn="ctr"/>
            <a:r>
              <a:rPr sz="1300" b="1">
                <a:solidFill>
                  <a:srgbClr val="2E75B6"/>
                </a:solidFill>
                <a:latin typeface="Noto Sans CJK SC"/>
                <a:ea typeface="Noto Sans CJK SC"/>
              </a:rPr>
              <a:t>P3 自适应增广层</a:t>
            </a:r>
          </a:p>
        </p:txBody>
      </p:sp>
      <p:pic>
        <p:nvPicPr>
          <p:cNvPr id="8" name="Picture 7" descr="fig_06_l1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850192"/>
            <a:ext cx="4892040" cy="2288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98348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图：L1 自适应结构（状态预测器 + 低通滤波器）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⑦ 强化学习与数据驱动自适应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第 7 章 · 研究活跃，工程成熟度最低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63093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原理一句话：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智能体与环境交互试错，直接优化端到端操舵策略；model-based 变体（如 SPMPC）样本效率更高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代表进展：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MARIN 波浪中航向保持 RL 智能体（2024）；Safe RL 前沿（CPO/RCPO、CBF+RL）开始进入船舶控制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高海况风险：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策略在训练分布外行为无保证，最大海况恰是分布外；实船高海况下在线探索不可接受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隐蔽陷阱：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奖励若不显式惩罚舵机活动量，策略会学成“高频打舵型”，加剧舵机磨损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450" b="1">
                <a:solidFill>
                  <a:srgbClr val="1F3864"/>
                </a:solidFill>
                <a:latin typeface="Noto Sans CJK SC"/>
                <a:ea typeface="Noto Sans CJK SC"/>
              </a:rPr>
              <a:t>▪ 结论：</a:t>
            </a:r>
            <a:r>
              <a:rPr sz="1450" b="0">
                <a:solidFill>
                  <a:srgbClr val="595959"/>
                </a:solidFill>
                <a:latin typeface="Noto Sans CJK SC"/>
                <a:ea typeface="Noto Sans CJK SC"/>
              </a:rPr>
              <a:t>最大海况下只能以“离线域随机化训练 + 部署冻结 + 监督层（限舵角/舵速、异常切 PD 基线）”方式使用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实船成熟度</a:t>
            </a:r>
          </a:p>
          <a:p>
            <a:pPr algn="ctr"/>
            <a:r>
              <a:rPr sz="1300" b="1">
                <a:solidFill>
                  <a:srgbClr val="C00000"/>
                </a:solidFill>
                <a:latin typeface="Noto Sans CJK SC"/>
                <a:ea typeface="Noto Sans CJK SC"/>
              </a:rPr>
              <a:t>低（个别真船）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海况 4–5</a:t>
            </a:r>
          </a:p>
          <a:p>
            <a:pPr algn="ctr"/>
            <a:r>
              <a:rPr sz="1300" b="1">
                <a:solidFill>
                  <a:srgbClr val="C00000"/>
                </a:solidFill>
                <a:latin typeface="Noto Sans CJK SC"/>
                <a:ea typeface="Noto Sans CJK SC"/>
              </a:rPr>
              <a:t>弱（固定策略+监督层）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5532120"/>
            <a:ext cx="3703320" cy="713232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18288"/>
          <a:lstStyle/>
          <a:p>
            <a:pPr algn="ctr"/>
            <a:r>
              <a:rPr sz="1050" b="0">
                <a:solidFill>
                  <a:srgbClr val="595959"/>
                </a:solidFill>
                <a:latin typeface="Noto Sans CJK SC"/>
                <a:ea typeface="Noto Sans CJK SC"/>
              </a:rPr>
              <a:t>对本项目</a:t>
            </a:r>
          </a:p>
          <a:p>
            <a:pPr algn="ctr"/>
            <a:r>
              <a:rPr sz="1300" b="1">
                <a:solidFill>
                  <a:srgbClr val="2E75B6"/>
                </a:solidFill>
                <a:latin typeface="Noto Sans CJK SC"/>
                <a:ea typeface="Noto Sans CJK SC"/>
              </a:rPr>
              <a:t>离线优化调度表（P3 远期）</a:t>
            </a:r>
          </a:p>
        </p:txBody>
      </p:sp>
      <p:pic>
        <p:nvPicPr>
          <p:cNvPr id="8" name="Picture 7" descr="fig_07_r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844339"/>
            <a:ext cx="4892040" cy="23006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983480"/>
            <a:ext cx="4892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图：RL 自动舵架构（智能体-环境闭环 + 安全监督）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最大海况适应性分析（一）：海况分级与影响机理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第 8 章 · 全文核心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97280"/>
          <a:ext cx="60350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399"/>
                <a:gridCol w="1097280"/>
                <a:gridCol w="4023360"/>
              </a:tblGrid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海况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H₁/₃ (m)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对本项目的意义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0–3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≤ 1.25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标称工作域（当前调度域 0..3 级）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5500B"/>
                          </a:solidFill>
                          <a:latin typeface="Noto Sans CJK SC"/>
                          <a:ea typeface="Noto Sans CJK SC"/>
                        </a:rPr>
                        <a:t>4–5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5500B"/>
                          </a:solidFill>
                          <a:latin typeface="Noto Sans CJK SC"/>
                          <a:ea typeface="Noto Sans CJK SC"/>
                        </a:rPr>
                        <a:t>1.25–4.0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C5500B"/>
                          </a:solidFill>
                          <a:latin typeface="Noto Sans CJK SC"/>
                          <a:ea typeface="Noto Sans CJK SC"/>
                        </a:rPr>
                        <a:t>最大海况：25 kn 游艇常规运营上限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≥ 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&gt; 4.0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停航/避险：目标从精度转为安全降级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246120"/>
            <a:ext cx="60350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Noto Sans CJK SC"/>
                <a:ea typeface="Noto Sans CJK SC"/>
              </a:rPr>
              <a:t>▪ 一阶波浪力：</a:t>
            </a:r>
            <a:r>
              <a:rPr sz="1300" b="0">
                <a:solidFill>
                  <a:srgbClr val="595959"/>
                </a:solidFill>
                <a:latin typeface="Noto Sans CJK SC"/>
                <a:ea typeface="Noto Sans CJK SC"/>
              </a:rPr>
              <a:t>波频振荡（0.3–1.5 rad/s）均值为零，舵无法抵消，必须先滤除再进反馈与辨识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Noto Sans CJK SC"/>
                <a:ea typeface="Noto Sans CJK SC"/>
              </a:rPr>
              <a:t>▪ 二阶慢漂力：</a:t>
            </a:r>
            <a:r>
              <a:rPr sz="1300" b="0">
                <a:solidFill>
                  <a:srgbClr val="595959"/>
                </a:solidFill>
                <a:latin typeface="Noto Sans CJK SC"/>
                <a:ea typeface="Noto Sans CJK SC"/>
              </a:rPr>
              <a:t>∝ H₁/₃² 的慢变漂转力矩，是航向稳态偏差主因，须由积分/低频补偿抵消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Noto Sans CJK SC"/>
                <a:ea typeface="Noto Sans CJK SC"/>
              </a:rPr>
              <a:t>▪ 舵机硬约束：</a:t>
            </a:r>
            <a:r>
              <a:rPr sz="1300" b="0">
                <a:solidFill>
                  <a:srgbClr val="595959"/>
                </a:solidFill>
                <a:latin typeface="Noto Sans CJK SC"/>
                <a:ea typeface="Noto Sans CJK SC"/>
              </a:rPr>
              <a:t>舵速约 2.3°/s（SOLAS 35°→30° ≤ 28 s 下限）、舵角 ±35° 失速——带宽须留 3–5 倍裕度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Noto Sans CJK SC"/>
                <a:ea typeface="Noto Sans CJK SC"/>
              </a:rPr>
              <a:t>▪ 随浪遭遇谱折叠：</a:t>
            </a:r>
            <a:r>
              <a:rPr sz="1300" b="0">
                <a:solidFill>
                  <a:srgbClr val="595959"/>
                </a:solidFill>
                <a:latin typeface="Noto Sans CJK SC"/>
                <a:ea typeface="Noto Sans CJK SC"/>
              </a:rPr>
              <a:t>25 kn 时折叠点 ω≈0.38 rad/s，波频能量被压入操纵频段，是随浪保向困难的频域根源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F3864"/>
                </a:solidFill>
                <a:latin typeface="Noto Sans CJK SC"/>
                <a:ea typeface="Noto Sans CJK SC"/>
              </a:rPr>
              <a:t>▪ 低速大漂角：</a:t>
            </a:r>
            <a:r>
              <a:rPr sz="1300" b="0">
                <a:solidFill>
                  <a:srgbClr val="595959"/>
                </a:solidFill>
                <a:latin typeface="Noto Sans CJK SC"/>
                <a:ea typeface="Noto Sans CJK SC"/>
              </a:rPr>
              <a:t>高海况伴随降速，舵效减弱 + 漂角压缩舵效裕度——最恶劣组合工况</a:t>
            </a:r>
          </a:p>
        </p:txBody>
      </p:sp>
      <p:pic>
        <p:nvPicPr>
          <p:cNvPr id="6" name="Picture 5" descr="fig_08_seastate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07729"/>
            <a:ext cx="5166360" cy="27853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29400" y="534924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图：WMO/Douglas 海况分级与对自动舵的主要影响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最大海况适应性分析（二）：算法 × 海况可行性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● 良好　◐ 需专门鲁棒化　○ 勉强/降级备份　✗ 不可行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12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8427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505"/>
                <a:gridCol w="970752"/>
                <a:gridCol w="970752"/>
                <a:gridCol w="3000507"/>
                <a:gridCol w="1500253"/>
                <a:gridCol w="3000507"/>
              </a:tblGrid>
              <a:tr h="4775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算法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海况 0–2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海况 3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海况 4–5（最大）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海况 ≥6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关键前提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增益调度 PID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7D32"/>
                          </a:solidFill>
                          <a:latin typeface="Noto Sans CJK SC"/>
                          <a:ea typeface="Noto Sans CJK SC"/>
                        </a:rPr>
                        <a:t>◐ 扩展调度域+滞回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○ 保守增益兜底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调度域覆盖、海况估计可靠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MRAC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◐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◐ 陷波+输入误差+dead-zone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✗ 冻结转固定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波浪滤波先行，饱和角进辨识器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STR / LQG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◐ 冻结辨识+协方差保护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防协方差 wind-up、防波频污染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模糊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◐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◐ 规则库须覆盖高海况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规则库按海况分组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神经网络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C5500B"/>
                          </a:solidFill>
                          <a:latin typeface="Noto Sans CJK SC"/>
                          <a:ea typeface="Noto Sans CJK SC"/>
                        </a:rPr>
                        <a:t>○ 外插无保证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仅作限幅补偿项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L1 自适应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2E7D32"/>
                          </a:solidFill>
                          <a:latin typeface="Noto Sans CJK SC"/>
                          <a:ea typeface="Noto Sans CJK SC"/>
                        </a:rPr>
                        <a:t>● 低通解耦+前置波滤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○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低通带宽按海况调度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滑模 SMC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◐ 边界层+扰动观测器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抖振抑制与舵机活动量约束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强化学习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◐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◐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C5500B"/>
                          </a:solidFill>
                          <a:latin typeface="Noto Sans CJK SC"/>
                          <a:ea typeface="Noto Sans CJK SC"/>
                        </a:rPr>
                        <a:t>○ 固定策略+监督层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✗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离线域随机化训练，禁在线探索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62356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E7D32"/>
                </a:solidFill>
                <a:latin typeface="Noto Sans CJK SC"/>
                <a:ea typeface="Noto Sans CJK SC"/>
              </a:rPr>
              <a:t>直接可用档：</a:t>
            </a:r>
            <a:r>
              <a:rPr sz="1400" b="0">
                <a:solidFill>
                  <a:srgbClr val="595959"/>
                </a:solidFill>
                <a:latin typeface="Noto Sans CJK SC"/>
                <a:ea typeface="Noto Sans CJK SC"/>
              </a:rPr>
              <a:t>增益调度 PID（扩展域）、L1、边界层化/超螺旋化滑模；　</a:t>
            </a:r>
            <a:r>
              <a:rPr sz="1400" b="1">
                <a:solidFill>
                  <a:srgbClr val="2E75B6"/>
                </a:solidFill>
                <a:latin typeface="Noto Sans CJK SC"/>
                <a:ea typeface="Noto Sans CJK SC"/>
              </a:rPr>
              <a:t>配齐保护可用档：</a:t>
            </a:r>
            <a:r>
              <a:rPr sz="1400" b="0">
                <a:solidFill>
                  <a:srgbClr val="595959"/>
                </a:solidFill>
                <a:latin typeface="Noto Sans CJK SC"/>
                <a:ea typeface="Noto Sans CJK SC"/>
              </a:rPr>
              <a:t>MRAC、STR/LQG、模糊；　</a:t>
            </a:r>
            <a:r>
              <a:rPr sz="1400" b="1">
                <a:solidFill>
                  <a:srgbClr val="C00000"/>
                </a:solidFill>
                <a:latin typeface="Noto Sans CJK SC"/>
                <a:ea typeface="Noto Sans CJK SC"/>
              </a:rPr>
              <a:t>仅作辅助档：</a:t>
            </a:r>
            <a:r>
              <a:rPr sz="1400" b="0">
                <a:solidFill>
                  <a:srgbClr val="595959"/>
                </a:solidFill>
                <a:latin typeface="Noto Sans CJK SC"/>
                <a:ea typeface="Noto Sans CJK SC"/>
              </a:rPr>
              <a:t>NN（限幅补偿）、RL（离线/监督）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最大海况适应性分析（三）：高海况三要素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先于一切算法选型的工程前提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4846320" cy="786384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400" b="1">
                <a:solidFill>
                  <a:srgbClr val="1F3864"/>
                </a:solidFill>
                <a:latin typeface="Noto Sans CJK SC"/>
                <a:ea typeface="Noto Sans CJK SC"/>
              </a:rPr>
              <a:t>① 波浪滤波</a:t>
            </a:r>
          </a:p>
          <a:p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Kalman/陷波滤除一阶波频分量，中心频率在线跟踪遭遇频率——先于反馈与辨识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39112"/>
            <a:ext cx="4846320" cy="786384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400" b="1">
                <a:solidFill>
                  <a:srgbClr val="1F3864"/>
                </a:solidFill>
                <a:latin typeface="Noto Sans CJK SC"/>
                <a:ea typeface="Noto Sans CJK SC"/>
              </a:rPr>
              <a:t>② 舵机约束感知</a:t>
            </a:r>
          </a:p>
          <a:p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带宽留 3–5 倍裕度、抗积分饱和、舵角软限幅避开 35° 失速区；辨识用实际舵角而非舵令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935224"/>
            <a:ext cx="4846320" cy="786384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/>
            <a:r>
              <a:rPr sz="1400" b="1">
                <a:solidFill>
                  <a:srgbClr val="1F3864"/>
                </a:solidFill>
                <a:latin typeface="Noto Sans CJK SC"/>
                <a:ea typeface="Noto Sans CJK SC"/>
              </a:rPr>
              <a:t>③ 超阈值降级</a:t>
            </a:r>
          </a:p>
          <a:p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海况估计超上限即冻结自适应、切保守 PD 增益、限舵角/舵速并提示降速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977639"/>
            <a:ext cx="48463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Noto Sans CJK SC"/>
                <a:ea typeface="Noto Sans CJK SC"/>
              </a:rPr>
              <a:t>▪ 缺了这三样，</a:t>
            </a:r>
            <a:r>
              <a:rPr sz="1350" b="0">
                <a:solidFill>
                  <a:srgbClr val="595959"/>
                </a:solidFill>
                <a:latin typeface="Noto Sans CJK SC"/>
                <a:ea typeface="Noto Sans CJK SC"/>
              </a:rPr>
              <a:t>任何自适应算法都不能在最大海况下安全运行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Noto Sans CJK SC"/>
                <a:ea typeface="Noto Sans CJK SC"/>
              </a:rPr>
              <a:t>▪ 三要素与算法解耦：</a:t>
            </a:r>
            <a:r>
              <a:rPr sz="1350" b="0">
                <a:solidFill>
                  <a:srgbClr val="595959"/>
                </a:solidFill>
                <a:latin typeface="Noto Sans CJK SC"/>
                <a:ea typeface="Noto Sans CJK SC"/>
              </a:rPr>
              <a:t>先建基础设施，再谈算法升级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1F3864"/>
                </a:solidFill>
                <a:latin typeface="Noto Sans CJK SC"/>
                <a:ea typeface="Noto Sans CJK SC"/>
              </a:rPr>
              <a:t>▪ 本项目现状：</a:t>
            </a:r>
            <a:r>
              <a:rPr sz="1350" b="0">
                <a:solidFill>
                  <a:srgbClr val="595959"/>
                </a:solidFill>
                <a:latin typeface="Noto Sans CJK SC"/>
                <a:ea typeface="Noto Sans CJK SC"/>
              </a:rPr>
              <a:t>三样皆缺或不足——正是 P0/P1 建议的来源</a:t>
            </a:r>
          </a:p>
        </p:txBody>
      </p:sp>
      <p:pic>
        <p:nvPicPr>
          <p:cNvPr id="8" name="Picture 7" descr="fig_08_highseastate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486252"/>
            <a:ext cx="6355080" cy="35197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40680" y="5440680"/>
            <a:ext cx="6355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图：高海况自动舵总体框架（波浪滤波 + 鲁棒化 + 海况估计 + 降级保护）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扩展专题速览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第 9–12 章 · 一页带过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88720"/>
            <a:ext cx="5577840" cy="14630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09728"/>
          <a:lstStyle/>
          <a:p>
            <a:pPr algn="ctr"/>
            <a:r>
              <a:rPr sz="1500" b="1">
                <a:solidFill>
                  <a:srgbClr val="1F3864"/>
                </a:solidFill>
                <a:latin typeface="Noto Sans CJK SC"/>
                <a:ea typeface="Noto Sans CJK SC"/>
              </a:rPr>
              <a:t>航迹舵（自适应 LOS 制导）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595959"/>
                </a:solidFill>
                <a:latin typeface="Noto Sans CJK SC"/>
                <a:ea typeface="Noto Sans CJK SC"/>
              </a:rPr>
              <a:t>制导-控制分层；ILOS/ALOS 在线估计侧滑角补偿流压差；本项目当前仅航向层闭环，可沿“航向→航迹”演进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577840" cy="14630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09728"/>
          <a:lstStyle/>
          <a:p>
            <a:pPr algn="ctr"/>
            <a:r>
              <a:rPr sz="1500" b="1">
                <a:solidFill>
                  <a:srgbClr val="1F3864"/>
                </a:solidFill>
                <a:latin typeface="Noto Sans CJK SC"/>
                <a:ea typeface="Noto Sans CJK SC"/>
              </a:rPr>
              <a:t>舵减摇（RRS）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595959"/>
                </a:solidFill>
                <a:latin typeface="Noto Sans CJK SC"/>
                <a:ea typeface="Noto Sans CJK SC"/>
              </a:rPr>
              <a:t>减摇效果文献值 30–60%，但小型游艇舵横摇力臂小、舵速有限（RRS 需 10–20°/s），不建议主动叠加；被动横摇耦合需计入 K/T 辨识不确定性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788920"/>
            <a:ext cx="5577840" cy="14630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09728"/>
          <a:lstStyle/>
          <a:p>
            <a:pPr algn="ctr"/>
            <a:r>
              <a:rPr sz="1500" b="1">
                <a:solidFill>
                  <a:srgbClr val="1F3864"/>
                </a:solidFill>
                <a:latin typeface="Noto Sans CJK SC"/>
                <a:ea typeface="Noto Sans CJK SC"/>
              </a:rPr>
              <a:t>自适应 / 学习型 MPC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595959"/>
                </a:solidFill>
                <a:latin typeface="Noto Sans CJK SC"/>
                <a:ea typeface="Noto Sans CJK SC"/>
              </a:rPr>
              <a:t>在线辨识+重规划，与 STR 同源；25 kn 控制周期下嵌入式实时性可满足，但相对 ESC+极点配置增益有限、认证成本高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88920"/>
            <a:ext cx="5577840" cy="14630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73152" rIns="109728"/>
          <a:lstStyle/>
          <a:p>
            <a:pPr algn="ctr"/>
            <a:r>
              <a:rPr sz="1500" b="1">
                <a:solidFill>
                  <a:srgbClr val="1F3864"/>
                </a:solidFill>
                <a:latin typeface="Noto Sans CJK SC"/>
                <a:ea typeface="Noto Sans CJK SC"/>
              </a:rPr>
              <a:t>验证与确认（V&amp;V）</a:t>
            </a:r>
          </a:p>
          <a:p>
            <a:pPr>
              <a:spcBef>
                <a:spcPts val="400"/>
              </a:spcBef>
            </a:pPr>
            <a:r>
              <a:rPr sz="1150" b="0">
                <a:solidFill>
                  <a:srgbClr val="595959"/>
                </a:solidFill>
                <a:latin typeface="Noto Sans CJK SC"/>
                <a:ea typeface="Noto Sans CJK SC"/>
              </a:rPr>
              <a:t>SIL→HIL→水池→实船四级；蒙特卡洛鲁棒性验证；IMO MSC.64(67) 与 DNV/CCS 对自适应/AI 软件的保证框架</a:t>
            </a:r>
          </a:p>
        </p:txBody>
      </p:sp>
      <p:pic>
        <p:nvPicPr>
          <p:cNvPr id="8" name="Picture 7" descr="fig_12_hi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99" y="4526280"/>
            <a:ext cx="3131721" cy="19202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3440" y="4663440"/>
            <a:ext cx="7132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1F3864"/>
                </a:solidFill>
                <a:latin typeface="Noto Sans CJK SC"/>
                <a:ea typeface="Noto Sans CJK SC"/>
              </a:rPr>
              <a:t>对本项目最直接的收获：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Noto Sans CJK SC"/>
                <a:ea typeface="Noto Sans CJK SC"/>
              </a:rPr>
              <a:t>▪ HIL 验证体系按“SIL→HIL→蒙特卡洛”分层建设，海况 4–5 边界工况纳入回归测试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Noto Sans CJK SC"/>
                <a:ea typeface="Noto Sans CJK SC"/>
              </a:rPr>
              <a:t>▪ 自适应算法特有难题：非确定性不可复现、回归基线漂移——需冻结版本基线与统计化判据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Noto Sans CJK SC"/>
                <a:ea typeface="Noto Sans CJK SC"/>
              </a:rPr>
              <a:t>▪ 航迹舵是航向舵成熟后的自然演进方向，现阶段不投入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相关产品与专利（一）：公司—产品—专利图谱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第 13 章 · 全部 48 件专利逐页核实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97280"/>
          <a:ext cx="1138427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791"/>
                <a:gridCol w="2662452"/>
                <a:gridCol w="4498626"/>
                <a:gridCol w="2203409"/>
              </a:tblGrid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公司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代表产品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代表专利（择要）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对应算法主题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Sperry Marine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NAVIPILOT 4000/4500N（self-tuning fully adaptive）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US4074648A（1978，性能指标 J 寻优）；US4799163A（1989，海况自适应）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自适应 PID / 海况自适应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Raytheon Anschütz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NautoPilot 5000/NX（ECOnomy 模式）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US5179905A（1993，按横摇频率自适应微分阻尼）；US5331558A（1994，自适应死区）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波浪滤波 / 节能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Tokyo Keiki 东京计器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PR-9000（NCT 自适应、ACE 节能）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US3505577A（1970，恶劣海况自动降灵敏度，ECO 鼻祖）；US3739251A（1973，自动气象调节）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海况自适应 / 节能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横河 YDK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PT900A（BNAAC 自校正）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JP2011042284A / JP2014136509A（批量区间更新 AR 模型 + 最优增益，与 BNAAC 官方原理逐点对应）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STR/自校正、舵减摇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Furuno 古野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NavPilot 系列（self-learning）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US9725151B2（免舵角反馈）；US11383813B2（基于 K/T 的前馈转向）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自适应 PID / 海况自适应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Garmin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GHP / Reactor（Shadow Drive）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US20190204837A1（舵轮脱开）；US12632049（2026，按船动力学与风流条件的路径级自适应）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自适应 PID / 航迹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海兰信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SCS 操舵仪（上市文件列明核心专利）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CN101281409A/B（双 CAN 冗余自动操舵仪）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系统架构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中国高校/研究所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多为算法专利，未见对应商用产品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CN101615000A（NN 逆）、CN100589055C（模糊 NN+滑模）、CN114879671B（RL-MPC）等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模糊 / NN / 滑模 / RL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26364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另核实：Kongsberg、Anschütz 近代产品、东京计器 NCT 等未检出可核实公开专利；荷兰 ASSA、美国海军 RRS、ABB-Fossen WOPC 等谱系详见文档。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相关产品与专利（二）：关键洞察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第 13 章 · 专利视角下的自适应自动舵产业格局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113385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F3864"/>
                </a:solidFill>
                <a:latin typeface="Noto Sans CJK SC"/>
                <a:ea typeface="Noto Sans CJK SC"/>
              </a:rPr>
              <a:t>▪ 专利谱系与学术谱系同构互证：</a:t>
            </a:r>
            <a:r>
              <a:rPr sz="1400" b="0">
                <a:solidFill>
                  <a:srgbClr val="595959"/>
                </a:solidFill>
                <a:latin typeface="Noto Sans CJK SC"/>
                <a:ea typeface="Noto Sans CJK SC"/>
              </a:rPr>
              <a:t>Sperry 1978 年 J 寻优自适应（比 MRAC 论文更早、以节油为目标）→ 东京计器 1967/1973 海况自适应（恶劣海况自动降灵敏度、自动气象调节）→ 横河 YDK BNAAC（大津学派 STR/LQG 思想的产品化）→ Garmin 2026 路径级自适应——与第 1–3 章 MRAC→STR→增益调度+自适应 PID 的学术演进完全对应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F3864"/>
                </a:solidFill>
                <a:latin typeface="Noto Sans CJK SC"/>
                <a:ea typeface="Noto Sans CJK SC"/>
              </a:rPr>
              <a:t>▪ 厂商核心算法多以商业秘密保护：</a:t>
            </a:r>
            <a:r>
              <a:rPr sz="1400" b="0">
                <a:solidFill>
                  <a:srgbClr val="595959"/>
                </a:solidFill>
                <a:latin typeface="Noto Sans CJK SC"/>
                <a:ea typeface="Noto Sans CJK SC"/>
              </a:rPr>
              <a:t>Kongsberg（K-Bridge 宣称 self-adapting）、Anschütz 近代 NautoPilot、东京计器 NCT 均未检出公开专利——公开专利更多落在系统架构、模式切换与外围功能上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F3864"/>
                </a:solidFill>
                <a:latin typeface="Noto Sans CJK SC"/>
                <a:ea typeface="Noto Sans CJK SC"/>
              </a:rPr>
              <a:t>▪ 中国高校专利覆盖最全但与产品脱节：</a:t>
            </a:r>
            <a:r>
              <a:rPr sz="1400" b="0">
                <a:solidFill>
                  <a:srgbClr val="595959"/>
                </a:solidFill>
                <a:latin typeface="Noto Sans CJK SC"/>
                <a:ea typeface="Noto Sans CJK SC"/>
              </a:rPr>
              <a:t>模糊、NN、滑模、LQG、RL 均有算法专利，但除海兰信 SCS 操舵仪外均未对应商用产品；欧美日厂商相反——产品有明确自适应宣称，专利多在早期或外围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F3864"/>
                </a:solidFill>
                <a:latin typeface="Noto Sans CJK SC"/>
                <a:ea typeface="Noto Sans CJK SC"/>
              </a:rPr>
              <a:t>▪ 调研可信度：</a:t>
            </a:r>
            <a:r>
              <a:rPr sz="1400" b="0">
                <a:solidFill>
                  <a:srgbClr val="595959"/>
                </a:solidFill>
                <a:latin typeface="Noto Sans CJK SC"/>
                <a:ea typeface="Noto Sans CJK SC"/>
              </a:rPr>
              <a:t>全部 48 件专利逐页打开官方/准官方全文源核实（公开号、申请人、年份、摘要一致才收录）；检索不到的厂商如实标注“未检出”，负面发现同样记录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577840"/>
            <a:ext cx="11338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Noto Sans CJK SC"/>
                <a:ea typeface="Noto Sans CJK SC"/>
              </a:rPr>
              <a:t>对本项目的启示：</a:t>
            </a:r>
            <a:r>
              <a:rPr sz="1400" b="0">
                <a:solidFill>
                  <a:srgbClr val="595959"/>
                </a:solidFill>
                <a:latin typeface="Noto Sans CJK SC"/>
                <a:ea typeface="Noto Sans CJK SC"/>
              </a:rPr>
              <a:t>商用化最成功的自适应自动舵（BNAAC、NAVIPILOT、PR-9000 NCT）走的都是“海况自适应 + 节能”路线，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0">
                <a:solidFill>
                  <a:srgbClr val="595959"/>
                </a:solidFill>
                <a:latin typeface="Noto Sans CJK SC"/>
                <a:ea typeface="Noto Sans CJK SC"/>
              </a:rPr>
              <a:t>与本项目 ESC 寻优 + 调度域扩展的 P0/P1 建议方向一致；专利空白区（核心控制律）也提示自研算法有自主布局空间。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91440" wrap="square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对本项目的分层建议（P0–P3）</a:t>
            </a:r>
          </a:p>
          <a:p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第 14 章 · 按投入产出排序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73952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Noto Sans CJK SC"/>
                <a:ea typeface="Noto Sans CJK SC"/>
              </a:rPr>
              <a:t>17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43000"/>
          <a:ext cx="1138427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895"/>
                <a:gridCol w="6977461"/>
                <a:gridCol w="3396922"/>
              </a:tblGrid>
              <a:tr h="6172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优先级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改进项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依据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Noto Sans CJK SC"/>
                          <a:ea typeface="Noto Sans CJK SC"/>
                        </a:rPr>
                        <a:t>P0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增加航向/转向率波浪滤波（陷波或 Kalman），滤波后再进 PD、辨识器与 ESC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当前方案缺此环节，是最大短板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Noto Sans CJK SC"/>
                          <a:ea typeface="Noto Sans CJK SC"/>
                        </a:rPr>
                        <a:t>P0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ESC 高海况保护三件套：dead-zone 冻结、泄漏项防漂移、激励频率避开遭遇谱峰；辨识改用实际舵角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Lauvdal &amp; Fossen 1998 关键经验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5500B"/>
                          </a:solidFill>
                          <a:latin typeface="Noto Sans CJK SC"/>
                          <a:ea typeface="Noto Sans CJK SC"/>
                        </a:rPr>
                        <a:t>P1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海况超阈值逻辑：冻结 ESC、切保守 PD 基线、限舵/降速提示；调度域从 0–3 级显式扩展到海况 4–5 并纳入 HIL 验证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第 8 章设计建议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5500B"/>
                          </a:solidFill>
                          <a:latin typeface="Noto Sans CJK SC"/>
                          <a:ea typeface="Noto Sans CJK SC"/>
                        </a:rPr>
                        <a:t>P1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ESC 代价函数升级为操舵阻力增量型 J=E[ψe²+λδ²]（λ≈1/12）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Källström/Norrbin 附加阻力推导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5B6"/>
                          </a:solidFill>
                          <a:latin typeface="Noto Sans CJK SC"/>
                          <a:ea typeface="Noto Sans CJK SC"/>
                        </a:rPr>
                        <a:t>P2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用模糊隶属度或小型 NN 平滑调度表分区边界；监控 K/T 辨识残差白性防有偏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第 4 章；KADPIL“RLS+LQ 有偏”教训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Noto Sans CJK SC"/>
                          <a:ea typeface="Noto Sans CJK SC"/>
                        </a:rPr>
                        <a:t>P3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（中期）叠加自适应增广层兜底：自适应超螺旋滑模（工程量最小、实船证据最充分）或 L1 自适应（理论保证最完备）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第 6 章</a:t>
                      </a:r>
                    </a:p>
                  </a:txBody>
                  <a:tcPr marL="54864" marR="54864" marT="18288" marB="18288" anchor="ctr">
                    <a:solidFill>
                      <a:srgbClr val="EEF3FA"/>
                    </a:solidFill>
                  </a:tcPr>
                </a:tc>
              </a:tr>
              <a:tr h="6172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Noto Sans CJK SC"/>
                          <a:ea typeface="Noto Sans CJK SC"/>
                        </a:rPr>
                        <a:t>P3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（远期）RL/数据驱动仅用于离线优化调度表或监督下在线调增益，不直接打舵；ESC 辨识的 K/T 反哺 RL 训练仿真器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Noto Sans CJK SC"/>
                          <a:ea typeface="Noto Sans CJK SC"/>
                        </a:rPr>
                        <a:t>第 7 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1.  自适应自动舵是 50 年实船验证的成熟工程方向；本项目“调度管快变量、自适应管慢变量”的路线与行业共识同构，方向正确。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2.  恶劣海况收益与风险同源——高海况三要素（波浪滤波 / 舵机约束感知 / 超阈值降级）先于一切算法选型。</a:t>
            </a:r>
          </a:p>
          <a:p>
            <a:pPr algn="l">
              <a:lnSpc>
                <a:spcPct val="115000"/>
              </a:lnSpc>
              <a:spcAft>
                <a:spcPts val="180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3.  下一步从 P0 做起：补波浪滤波 + ESC 高海况保护三件套，随后将调度域扩展到海况 4–5 并纳入 HIL 验证。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BDD0EA"/>
                </a:solidFill>
                <a:latin typeface="Noto Sans CJK SC"/>
                <a:ea typeface="Noto Sans CJK SC"/>
              </a:rPr>
              <a:t>谢谢 · 欢迎讨论　|　完整文档：docs/adaptive_autopilot_research/自动舵自适应算法调研与最大海况适应性分析.md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