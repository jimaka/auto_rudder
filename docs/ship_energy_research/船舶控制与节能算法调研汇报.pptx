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Noto Sans CJK SC"/>
              </a:rPr>
              <a:t>船舶控制与节能算法调研汇报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9FC5E8"/>
                </a:solidFill>
                <a:latin typeface="Noto Sans CJK SC"/>
              </a:rPr>
              <a:t>MPC vs 传统 PD 自动舵部署对比  ·  船舶节能算法论文与部署案例综述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Noto Sans CJK SC"/>
              </a:rPr>
              <a:t>2026-08-07   |   数据均经两轮来源核对，出处见调研文档附录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1B2A4A"/>
                </a:solidFill>
                <a:latin typeface="Noto Sans CJK SC"/>
              </a:rPr>
              <a:t>▪ 01  技术背景：船舶节能的能耗痛点与 MPC 控制的下沉机遇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1B2A4A"/>
                </a:solidFill>
                <a:latin typeface="Noto Sans CJK SC"/>
              </a:rPr>
              <a:t>▪ 02  MPC vs PD 自动舵：原理、控制效果、证据强度、调试难度、实时性与稳定性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1B2A4A"/>
                </a:solidFill>
                <a:latin typeface="Noto Sans CJK SC"/>
              </a:rPr>
              <a:t>▪ 03  船舶节能五大算法路线：节能率、关键数据、优缺点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1B2A4A"/>
                </a:solidFill>
                <a:latin typeface="Noto Sans CJK SC"/>
              </a:rPr>
              <a:t>▪ 04  工业部署案例：规模化部署与实测细节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1B2A4A"/>
                </a:solidFill>
                <a:latin typeface="Noto Sans CJK SC"/>
              </a:rPr>
              <a:t>▪ 05  技术趋势判断与本项目落地建议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技术背景：船舶节能与先进控制的双重机遇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14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Noto Sans CJK SC"/>
              </a:rPr>
              <a:t>能耗痛点 + 控制理论下沉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8521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77B4"/>
                </a:solidFill>
                <a:latin typeface="Noto Sans CJK SC"/>
              </a:rPr>
              <a:t>▪ 船舶运营中的能耗痛点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B2A4A"/>
                </a:solidFill>
                <a:latin typeface="Noto Sans CJK SC"/>
              </a:rPr>
              <a:t>    – 推进能耗是船舶运营能耗的主体，效率提升直接折算为成本下降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B2A4A"/>
                </a:solidFill>
                <a:latin typeface="Noto Sans CJK SC"/>
              </a:rPr>
              <a:t>    – 无效操舵增加舵致附加阻力与舵机磨损：自适应操舵平均减少舵动作约 25%（Anschütz 运营数据）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B2A4A"/>
                </a:solidFill>
                <a:latin typeface="Noto Sans CJK SC"/>
              </a:rPr>
              <a:t>    – 风浪流干扰下的航向/航迹偏差放大实际航程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77B4"/>
                </a:solidFill>
                <a:latin typeface="Noto Sans CJK SC"/>
              </a:rPr>
              <a:t>▪ MPC 向船舶控制下沉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B2A4A"/>
                </a:solidFill>
                <a:latin typeface="Noto Sans CJK SC"/>
              </a:rPr>
              <a:t>    – 嵌入式 QP 求解器成熟：水下机器人实测 7 ms @ 20 Hz（acados，JMSE 2024）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B2A4A"/>
                </a:solidFill>
                <a:latin typeface="Noto Sans CJK SC"/>
              </a:rPr>
              <a:t>    – 船舶航向动态慢（控制周期 0.1–0.2 s），算力足够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B2A4A"/>
                </a:solidFill>
                <a:latin typeface="Noto Sans CJK SC"/>
              </a:rPr>
              <a:t>    – 学术界大量仿真/船模成果，实船落地仍少</a:t>
            </a:r>
          </a:p>
        </p:txBody>
      </p:sp>
      <p:pic>
        <p:nvPicPr>
          <p:cNvPr id="6" name="Picture 5" descr="fig6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359152"/>
            <a:ext cx="5394960" cy="3236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63093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Noto Sans CJK SC"/>
              </a:rPr>
              <a:t>船舶节能分层架构总览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MPC vs PD：原理差异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14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Noto Sans CJK SC"/>
              </a:rPr>
              <a:t>前视预测 + 显式约束 + 多目标代价函数</a:t>
            </a:r>
          </a:p>
        </p:txBody>
      </p:sp>
      <p:pic>
        <p:nvPicPr>
          <p:cNvPr id="5" name="Picture 4" descr="fig2_mpc_princi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63140"/>
            <a:ext cx="667512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645920"/>
            <a:ext cx="45720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D62728"/>
                </a:solidFill>
                <a:latin typeface="Noto Sans CJK SC"/>
              </a:rPr>
              <a:t>▪ PD/PID 自动舵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B2A4A"/>
                </a:solidFill>
                <a:latin typeface="Noto Sans CJK SC"/>
              </a:rPr>
              <a:t>    – δ = Kp·e + Kd·r：看着误差打舵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B2A4A"/>
                </a:solidFill>
                <a:latin typeface="Noto Sans CJK SC"/>
              </a:rPr>
              <a:t>    – 无模型、几次乘加、单片机可跑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B2A4A"/>
                </a:solidFill>
                <a:latin typeface="Noto Sans CJK SC"/>
              </a:rPr>
              <a:t>    – 约束靠事后饱和截断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77B4"/>
                </a:solidFill>
                <a:latin typeface="Noto Sans CJK SC"/>
              </a:rPr>
              <a:t>▪ MPC 自动舵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B2A4A"/>
                </a:solidFill>
                <a:latin typeface="Noto Sans CJK SC"/>
              </a:rPr>
              <a:t>    – 每周期解一个有限时域优化问题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B2A4A"/>
                </a:solidFill>
                <a:latin typeface="Noto Sans CJK SC"/>
              </a:rPr>
              <a:t>    – 用 Nomoto 模型预测未来 Np 步响应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B2A4A"/>
                </a:solidFill>
                <a:latin typeface="Noto Sans CJK SC"/>
              </a:rPr>
              <a:t>    – 舵角 |δ|≤35°、舵速 ≤3°/s 显式入约束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B2A4A"/>
                </a:solidFill>
                <a:latin typeface="Noto Sans CJK SC"/>
              </a:rPr>
              <a:t>    – 代价函数可计入操舵能量（省油）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控制效果：仿真/船模层面 MPC 全面占优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14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Noto Sans CJK SC"/>
              </a:rPr>
              <a:t>注意：尚无全尺度实船 MPC vs PID 公开定量对比</a:t>
            </a:r>
          </a:p>
        </p:txBody>
      </p:sp>
      <p:pic>
        <p:nvPicPr>
          <p:cNvPr id="5" name="Picture 4" descr="fig1_step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03400"/>
            <a:ext cx="6675120" cy="37084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23760" y="1554480"/>
          <a:ext cx="4663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756"/>
                <a:gridCol w="2639683"/>
              </a:tblGrid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研究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关键结果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A4A"/>
                          </a:solidFill>
                          <a:latin typeface="Noto Sans CJK SC"/>
                        </a:rPr>
                        <a:t>Jannaty 2023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A4A"/>
                          </a:solidFill>
                          <a:latin typeface="Noto Sans CJK SC"/>
                        </a:rPr>
                        <a:t>(护卫舰仿真)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A4A"/>
                          </a:solidFill>
                          <a:latin typeface="Noto Sans CJK SC"/>
                        </a:rPr>
                        <a:t>到达目标航向：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A4A"/>
                          </a:solidFill>
                          <a:latin typeface="Noto Sans CJK SC"/>
                        </a:rPr>
                        <a:t>MPC 4 s vs PID 15 s</a:t>
                      </a:r>
                    </a:p>
                  </a:txBody>
                  <a:tcPr marL="54864" marR="54864" marT="27432" marB="27432" anchor="ctr"/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A4A"/>
                          </a:solidFill>
                          <a:latin typeface="Noto Sans CJK SC"/>
                        </a:rPr>
                        <a:t>Zhang 2025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A4A"/>
                          </a:solidFill>
                          <a:latin typeface="Noto Sans CJK SC"/>
                        </a:rPr>
                        <a:t>(内河船 NMPC)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A4A"/>
                          </a:solidFill>
                          <a:latin typeface="Noto Sans CJK SC"/>
                        </a:rPr>
                        <a:t>平均横偏误差降 82%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A4A"/>
                          </a:solidFill>
                          <a:latin typeface="Noto Sans CJK SC"/>
                        </a:rPr>
                        <a:t>(9.497→1.731 m)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A4A"/>
                          </a:solidFill>
                          <a:latin typeface="Noto Sans CJK SC"/>
                        </a:rPr>
                        <a:t>Appl. Sci. 2026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A4A"/>
                          </a:solidFill>
                          <a:latin typeface="Noto Sans CJK SC"/>
                        </a:rPr>
                        <a:t>(桥区水域)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A4A"/>
                          </a:solidFill>
                          <a:latin typeface="Noto Sans CJK SC"/>
                        </a:rPr>
                        <a:t>调节时间 120–160 s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A4A"/>
                          </a:solidFill>
                          <a:latin typeface="Noto Sans CJK SC"/>
                        </a:rPr>
                        <a:t>vs PID &gt;600 s</a:t>
                      </a:r>
                    </a:p>
                  </a:txBody>
                  <a:tcPr marL="54864" marR="54864" marT="27432" marB="27432" anchor="ctr"/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A4A"/>
                          </a:solidFill>
                          <a:latin typeface="Noto Sans CJK SC"/>
                        </a:rPr>
                        <a:t>RA-L 2017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A4A"/>
                          </a:solidFill>
                          <a:latin typeface="Noto Sans CJK SC"/>
                        </a:rPr>
                        <a:t>(波浪场机器人)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A4A"/>
                          </a:solidFill>
                          <a:latin typeface="Noto Sans CJK SC"/>
                        </a:rPr>
                        <a:t>位置误差降 74%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B2A4A"/>
                          </a:solidFill>
                          <a:latin typeface="Noto Sans CJK SC"/>
                        </a:rPr>
                        <a:t>(MPC vs PD，仿真)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89320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62728"/>
                </a:solidFill>
                <a:latin typeface="Noto Sans CJK SC"/>
              </a:rPr>
              <a:t>［证据边界］对比几乎全部来自仿真/水池船模；预测模型与仿真模型同源会高估 MPC 优势（He 2023 警示）；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62728"/>
                </a:solidFill>
                <a:latin typeface="Noto Sans CJK SC"/>
              </a:rPr>
              <a:t>Zhang 2025 中舵机控制投入指标（AACE）在直道/弯道工况 PID 反优——「占优」限跟踪精度维度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证据强度分级：本文数据的可靠性坐标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14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Noto Sans CJK SC"/>
              </a:rPr>
              <a:t>引用前先看数据站在哪一级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33855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590"/>
                <a:gridCol w="5930939"/>
                <a:gridCol w="2791030"/>
              </a:tblGrid>
              <a:tr h="6553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Noto Sans CJK SC"/>
                        </a:rPr>
                        <a:t>证据等级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Noto Sans CJK SC"/>
                        </a:rPr>
                        <a:t>代表数据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Noto Sans CJK SC"/>
                        </a:rPr>
                        <a:t>可靠性评估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实船试航 / 第三方实测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ClassNK-NAPA 试航 3.8–3.9%；Yara 实测 3–5%；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Malaysia Grace 3.4%；MRAS 全尺度 1–3%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最高，可直接引用</a:t>
                      </a:r>
                    </a:p>
                  </a:txBody>
                  <a:tcPr marL="54864" marR="54864" marT="27432" marB="27432" anchor="ctr"/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船模实验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He 2023 MPC 路径跟踪（8 Hz 自由自航船模）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较高，注意尺度效应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试验校验的仿真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Pelić 2023 减速 72–76%（船模+柴油机模型，偏差 &lt;2%）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中等，模型经试验校验</a:t>
                      </a:r>
                    </a:p>
                  </a:txBody>
                  <a:tcPr marL="54864" marR="54864" marT="27432" marB="27432" anchor="ctr"/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纯仿真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MPC vs PID 多数对比（4 s vs 15 s、74%）；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MPC-EMS 节油 4.85–17.2%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参考级，需实船/船模验证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厂商宣称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ABB ≤9%；Anschütz ≤5%；Yara 5–15%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注意营销偏差，以第三方复核为准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D62728"/>
                </a:solidFill>
                <a:latin typeface="Noto Sans CJK SC"/>
              </a:rPr>
              <a:t>▪ 关键提醒：MPC vs PID 无全尺度实船公开对比；「预测模型与仿真模型同源会高估优势」（He 2023）；Li 2022（2.1–5.2%）为二手转引。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调试难度：MPC 上船的最大障碍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14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Noto Sans CJK SC"/>
              </a:rPr>
              <a:t>「模型参数确定是实现 MPC 的最大障碍」—— He et al., 2023 原文</a:t>
            </a:r>
          </a:p>
        </p:txBody>
      </p:sp>
      <p:pic>
        <p:nvPicPr>
          <p:cNvPr id="5" name="Picture 4" descr="fig3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54864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554480"/>
            <a:ext cx="56692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62728"/>
                </a:solidFill>
                <a:latin typeface="Noto Sans CJK SC"/>
              </a:rPr>
              <a:t>▪ PID 侧：规则成熟、船员可整定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Z-N 临界比例度法（无模型，步骤机械）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Nomoto 极点配置解析公式：Kp=ωn²T/K，Kd=(2ζωnT−1)/K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1F77B4"/>
                </a:solidFill>
                <a:latin typeface="Noto Sans CJK SC"/>
              </a:rPr>
              <a:t>▪ MPC 侧：模型 + 多参数双重门槛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需 Z 形/回转试验做系统辨识，模型随装载/污底漂移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Np、Nc、Q、R、采样周期、约束边界多参数耦合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权重整定多靠 trial-and-error（DTU 2025 原文佐证）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稳定性需专门构造（终端约束 / Lyapunov 约束）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666666"/>
                </a:solidFill>
                <a:latin typeface="Noto Sans CJK SC"/>
              </a:rPr>
              <a:t>▪ 注：雷达图为基于文献证据的主观打分示意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MPC 工程化两个关键问题：实时性与稳定性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14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Noto Sans CJK SC"/>
              </a:rPr>
              <a:t>均有文献实测数据支撑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6692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1F77B4"/>
                </a:solidFill>
                <a:latin typeface="Noto Sans CJK SC"/>
              </a:rPr>
              <a:t>▪ 实时性：船舶慢动态下可满足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船舶航向控制周期 0.1–0.2 s 足够（He 2023 船模 8 Hz）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acados 实测：预测时域 60、20 Hz 下平均求解 7 ms，仅占采样周期 14%（Hu 2024，JMSE）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嵌入式平台（x86/ARM）QP 求解器基准：HPIPM 长时域最快；OSQP 热启动稳定可用（arXiv 2510.21773）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可选求解器：OSQP / qpSWIFT / acados / HPIPM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自主拖船 MPC 采样 0.2 s（You et al., 2024，UCL）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4864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E87D0D"/>
                </a:solidFill>
                <a:latin typeface="Noto Sans CJK SC"/>
              </a:rPr>
              <a:t>▪ 稳定性：需专门构造，不能默认获得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PID：Nomoto 闭环分析成熟，频域裕度/极点配置直观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MPC：有限时域优化不天然保证闭环稳定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经典框架：终端约束集 + 终端代价（Mayne et al., 2000, Automatica）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船舶落地形式：Lyapunov 约束嵌入优化问题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Gong et al., 2021（AUV，Ocean Engineering）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Zhang et al., 2023（DP 船，JMSE 11(2):281）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MPC vs PD 部署优缺点小结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33855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298"/>
                <a:gridCol w="4376286"/>
                <a:gridCol w="5171974"/>
              </a:tblGrid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</a:rPr>
                        <a:t>维度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</a:rPr>
                        <a:t>传统 PD/PID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</a:rPr>
                        <a:t>MPC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控制效果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无前瞻、海浪下易无效操舵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响应快、超调小、抗扰强、特定工况舵动作更少</a:t>
                      </a:r>
                    </a:p>
                  </a:txBody>
                  <a:tcPr marL="54864" marR="54864" marT="27432" marB="27432" anchor="ctr"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调试难度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整定规则成熟，船员可现场整定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模型辨识是硬门槛；权重多靠 trial-and-error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实时计算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几次乘加，单片机即可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每周期解 QP/NLP；船舶慢动态下可行（实测 7 ms）</a:t>
                      </a:r>
                    </a:p>
                  </a:txBody>
                  <a:tcPr marL="54864" marR="54864" marT="27432" marB="27432" anchor="ctr"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约束/安全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事后饱和截断，约束下退化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舵角/舵速约束显式满足；稳定性需专门构造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认证与维护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工业生态与船级社认证完备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认证路径不成熟；需控制工程师维护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03520"/>
            <a:ext cx="11338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CA02C"/>
                </a:solidFill>
                <a:latin typeface="Noto Sans CJK SC"/>
              </a:rPr>
              <a:t>结论性判断：PD/PID 打底保证可靠性，MPC 作为性能增强层；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CA02C"/>
                </a:solidFill>
                <a:latin typeface="Noto Sans CJK SC"/>
              </a:rPr>
              <a:t>模型辨识与整定自动化（本仓库 auto_tuning 流程）是 MPC 能否落地的前置条件。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船舶节能五大路线：量级差异极大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14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Noto Sans CJK SC"/>
              </a:rPr>
              <a:t>来源：IMO / 船级社 / 实船试航，均为已核对数据</a:t>
            </a:r>
          </a:p>
        </p:txBody>
      </p:sp>
      <p:pic>
        <p:nvPicPr>
          <p:cNvPr id="5" name="Picture 4" descr="fig4_energy_meas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89" y="1554480"/>
            <a:ext cx="8844741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节能方案优缺点（一）：决策层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14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Noto Sans CJK SC"/>
              </a:rPr>
              <a:t>节能大头所在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33855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227"/>
                <a:gridCol w="4038391"/>
                <a:gridCol w="2795809"/>
                <a:gridCol w="2951132"/>
              </a:tblGrid>
              <a:tr h="12115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Noto Sans CJK SC"/>
                        </a:rPr>
                        <a:t>方案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Noto Sans CJK SC"/>
                        </a:rPr>
                        <a:t>代表数据（已核对）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Noto Sans CJK SC"/>
                        </a:rPr>
                        <a:t>优点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Noto Sans CJK SC"/>
                        </a:rPr>
                        <a:t>缺点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减速航行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23→12 kn 每海里油耗降 72–76%（Pelić 2023）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IMO：主机油耗潜力 10–50%，全船口径 3–12%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杠杆最大；零硬件成本；单位运输功油耗直接下降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牺牲船期；受租约约束；低速偏离主机最佳负荷点</a:t>
                      </a:r>
                    </a:p>
                  </a:txBody>
                  <a:tcPr marL="54864" marR="54864" marT="27432" marB="27432" anchor="ctr"/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气象航线优化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IMO 口径 ≥3%，集装箱船可达 10%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Li 2022 实船 2.1–5.2%（二手转引）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节能+避离恶劣海况兼得；商用服务成熟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依赖气象预报与增阻模型精度；收益随海况波动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纵倾优化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ClassNK-NAPA 实船试航：纵倾贡献 1.2%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专项研究最多 4%；Eniram 实测 1–5%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几乎零成本（调压载水）；实船背书强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最优纵倾随工况变化；受稳性/装卸约束；幅度偏小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节能方案关键数据补充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14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Noto Sans CJK SC"/>
              </a:rPr>
              <a:t>对比基线与口径已逐条核对，避免误读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3385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6299200"/>
                <a:gridCol w="3149600"/>
              </a:tblGrid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</a:rPr>
                        <a:t>方案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</a:rPr>
                        <a:t>补充数据（已核对）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</a:rPr>
                        <a:t>口径说明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减速航行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IMO 案例：56,000 DWT 敞舱口货船 13% 减速 → 日油耗 −34%；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10% 减速 → 功率 −27%，计入航时后航次总节油约 19%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特定船案例，非普适值；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主机口径 10–50% vs 全船 3–12%</a:t>
                      </a:r>
                    </a:p>
                  </a:txBody>
                  <a:tcPr marL="54864" marR="54864" marT="27432" marB="27432" anchor="ctr"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航速+纵倾联合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Du 2019（实船数据+ANN 模型）：动态纵倾 C1 省 4.96%/5.83%；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ANN 航速优化 C2 省 7.63%/7.57%；综合 C3 平均省 8.25%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0.57%/3.69% 是相对三次方定律的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额外节油，非总节油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纵倾优化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ClassNK 两次印度洋横渡专项：最优纵倾最多再省 4%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与航速/航程优化收益可叠加</a:t>
                      </a:r>
                    </a:p>
                  </a:txBody>
                  <a:tcPr marL="54864" marR="54864" marT="27432" marB="27432" anchor="ctr"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MPC 能量管理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Zhang 2022：双层 MPC 比传统单层 MPC 再省 17.2%（30 kW 柴电混合船）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周妍 2024：比规则控制省 4.85%（客滚船）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两者对比基线不同，不可互比；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均为仿真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气象航线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算法基准研究：Isochrone / Isopone / DP / 3D-DP / Dijkstra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五算法横向对比（Wang et al., Chalmers，北大西洋案例）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仿真基准，无单一最优算法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节能方案优缺点（二）：操作层与控制层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33855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9490"/>
                <a:gridCol w="3878981"/>
                <a:gridCol w="2685448"/>
                <a:gridCol w="2834640"/>
              </a:tblGrid>
              <a:tr h="12115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Noto Sans CJK SC"/>
                        </a:rPr>
                        <a:t>方案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Noto Sans CJK SC"/>
                        </a:rPr>
                        <a:t>代表数据（已核对）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Noto Sans CJK SC"/>
                        </a:rPr>
                        <a:t>优点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Noto Sans CJK SC"/>
                        </a:rPr>
                        <a:t>缺点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MPC 能量管理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(混合动力 EMS)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双层 MPC 比传统 MPC 再省 17.2%（Zhang 2022）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客滚船 MPC-EMS 节油 4.85%（周妍 2024）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滚动时域天然适合负载预测；多目标可编码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全部仿真验证无实船数据；仅限混合动力船型</a:t>
                      </a:r>
                    </a:p>
                  </a:txBody>
                  <a:tcPr marL="54864" marR="54864" marT="27432" marB="27432" anchor="ctr"/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自动舵节能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(减少无效操舵)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IMO：0.1–1.0%；ABS：最高 1%、改造成本 $2 万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MRAS 实船试验 1–3%（van Amerongen 经典）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实施成本最低（软件级）；兼降舵机磨损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单项幅度最小；收益依赖海况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双舵 Toe Angle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(舵系水动力优化)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Anschütz 实测最大 4.7%、平均约 2%（宣称 ≤5%）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自适应模式平均减少舵动作 25%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双舵船额外收益；已有商用产品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B2A4A"/>
                          </a:solidFill>
                          <a:latin typeface="Noto Sans CJK SC"/>
                        </a:rPr>
                        <a:t>仅适用双舵船；厂商数据待第三方复核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工业部署案例（一）：第三方实测集中在 3–10%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14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Noto Sans CJK SC"/>
              </a:rPr>
              <a:t>厂商宣称值普遍高于实测，引用以船级社/试航数据为准</a:t>
            </a:r>
          </a:p>
        </p:txBody>
      </p:sp>
      <p:pic>
        <p:nvPicPr>
          <p:cNvPr id="5" name="Picture 4" descr="fig5_deploy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25066"/>
            <a:ext cx="6949440" cy="36137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554480"/>
            <a:ext cx="4480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1F77B4"/>
                </a:solidFill>
                <a:latin typeface="Noto Sans CJK SC"/>
              </a:rPr>
              <a:t>▪ 规模化部署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ABB OCTOPUS：1000+ 船，回收期仅几个月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DeepSea：EPS 全船队 300 艘，油耗预报误差 0.8%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Orca AI：Seaspan 267+ 船，单船年省约 $10 万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2CA02C"/>
                </a:solidFill>
                <a:latin typeface="Noto Sans CJK SC"/>
              </a:rPr>
              <a:t>▪ 控制层现状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节能自动舵 = 自适应+海浪滤波（Anschütz ECO）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无公开的 MPC 实船自动舵部署案例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B2A4A"/>
                </a:solidFill>
                <a:latin typeface="Noto Sans CJK SC"/>
              </a:rPr>
              <a:t>    – 印证：门槛不在算力，在模型获取与整定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工业部署案例（二）：实测细节与口径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14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Noto Sans CJK SC"/>
              </a:rPr>
              <a:t>注意：各案例节油路径不同，不可直接横向比较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33855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8483"/>
                <a:gridCol w="6092360"/>
                <a:gridCol w="2707715"/>
              </a:tblGrid>
              <a:tr h="7010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</a:rPr>
                        <a:t>案例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</a:rPr>
                        <a:t>实测细节（已核对）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</a:rPr>
                        <a:t>节油路径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Wärtsilä/Eniram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VLCC 案例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320,000+ DWT、450 天数据：年燃油成本 −2.6%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（≈48.2 万美元 / 730 吨燃油）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纵倾优化 + 污底评估</a:t>
                      </a:r>
                    </a:p>
                  </a:txBody>
                  <a:tcPr marL="54864" marR="54864" marT="27432" marB="27432" anchor="ctr"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Yara FuelOpt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（独立复核）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NAPA 独立分析确认 10–18%：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Sten Bothnia 12 个月 17.9%、Ekfjord 24 个月 10.3%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推进功率闭环优化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NAPA × Norsepower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× SHI-ME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转筒帆+航程优化六条航线平均 CO2 −19%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（纽约–阿姆斯特丹线 28%，NAPA 贡献 10–12 个百分点）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风助推 + 航程优化</a:t>
                      </a:r>
                    </a:p>
                  </a:txBody>
                  <a:tcPr marL="54864" marR="54864" marT="27432" marB="27432" anchor="ctr"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Orca AI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（Seaspan）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近距遭遇事件 −54%；2024 年合计减排约 19.5 万吨 CO2；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单船年省约 $10 万 / 减 500 t CO2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减少避碰机动与无谓变速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Kongsberg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EcoAdvisor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DP 工况主机/推进器停机建议工具（DOF 试点）；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官方未公布定量节油数据（流传的 8–10% 无法证实，已弃用）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B2A4A"/>
                          </a:solidFill>
                          <a:latin typeface="Noto Sans CJK SC"/>
                        </a:rPr>
                        <a:t>动力定位能耗优化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97880"/>
            <a:ext cx="11338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Noto Sans CJK SC"/>
              </a:rPr>
              <a:t>Anschütz 补充：自适应 ECO 模式平均减少舵动作约 25%（多年运营数据分析），案例折算节油约 4%。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技术趋势判断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14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Noto Sans CJK SC"/>
              </a:rPr>
              <a:t>基于两轮来源核对的四条判断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F77B4"/>
                </a:solidFill>
                <a:latin typeface="Noto Sans CJK SC"/>
              </a:rPr>
              <a:t>▪ ① 节能大头在决策层，控制层价值在「少损耗」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1B2A4A"/>
                </a:solidFill>
                <a:latin typeface="Noto Sans CJK SC"/>
              </a:rPr>
              <a:t>    – 自动舵贡献 0.1–1.0%（IMO 口径），但 7×24 在线、几乎零边际成本，兼降舵机磨损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F77B4"/>
                </a:solidFill>
                <a:latin typeface="Noto Sans CJK SC"/>
              </a:rPr>
              <a:t>▪ ② MPC 可行域正在打开，瓶颈不是算力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1B2A4A"/>
                </a:solidFill>
                <a:latin typeface="Noto Sans CJK SC"/>
              </a:rPr>
              <a:t>    – 嵌入式求解器毫秒级（7 ms @ 20 Hz）；真正门槛是模型辨识与整定自动化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F77B4"/>
                </a:solidFill>
                <a:latin typeface="Noto Sans CJK SC"/>
              </a:rPr>
              <a:t>▪ ③ 数据驱动自学习模型成为商用标配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1B2A4A"/>
                </a:solidFill>
                <a:latin typeface="Noto Sans CJK SC"/>
              </a:rPr>
              <a:t>    – ClassNK-NAPA 油耗预测精度 99.6%；DeepSea 周油耗预报误差 0.8%；纯机理模型路线已少见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F77B4"/>
                </a:solidFill>
                <a:latin typeface="Noto Sans CJK SC"/>
              </a:rPr>
              <a:t>▪ ④ 分层协同：决策层优化与控制层执行正在打通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1B2A4A"/>
                </a:solidFill>
                <a:latin typeface="Noto Sans CJK SC"/>
              </a:rPr>
              <a:t>    – MPC 代价函数可直接计入操舵能量项；自动舵可向上输出舵机磨损/能耗统计，形成闭环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对本项目（auto_rudder）的落地建议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33855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4"/>
                <a:gridCol w="2519680"/>
                <a:gridCol w="7199085"/>
              </a:tblGrid>
              <a:tr h="9601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</a:rPr>
                        <a:t>阶段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</a:rPr>
                        <a:t>目标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</a:rPr>
                        <a:t>关键动作</a:t>
                      </a:r>
                    </a:p>
                  </a:txBody>
                  <a:tcPr marL="54864" marR="54864" marT="27432" marB="27432" anchor="ctr">
                    <a:solidFill>
                      <a:srgbClr val="1F77B4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短期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1–3 个月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PD 基线交付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Nomoto 极点配置整定（Kp=ωn²T/K，ζ≈1）；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海浪滤波+死区抑制无效操舵（对标 IMO 0.1–1.0% 收益）</a:t>
                      </a:r>
                    </a:p>
                  </a:txBody>
                  <a:tcPr marL="54864" marR="54864" marT="27432" marB="27432" anchor="ctr"/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中期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3–6 个月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MPC 增强层开发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攻克模型在线辨识与权重整定工具化；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嵌入式求解器选型（acados/OSQP）；与 PD 基线 A/B 对比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长期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6–12 个月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分层节能架构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MPC 代价函数计入操舵能量，对接航速/纵倾优化指令；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B2A4A"/>
                          </a:solidFill>
                          <a:latin typeface="Noto Sans CJK SC"/>
                        </a:rPr>
                        <a:t>输出舵机磨损/能耗统计；Lyapunov-based MPC 保稳定性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577840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4A"/>
                </a:solidFill>
                <a:latin typeface="Noto Sans CJK SC"/>
              </a:rPr>
              <a:t>核心逻辑：节能大头在决策层（气象航线 3–10%、减速航行主机口径可达 50%），控制层贡献 0.1–1% 但几乎零成本；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4A"/>
                </a:solidFill>
                <a:latin typeface="Noto Sans CJK SC"/>
              </a:rPr>
              <a:t>先把 PD 整定与辨识流程工具化，再让 MPC 平滑接管性能增强。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Noto Sans CJK SC"/>
              </a:rPr>
              <a:t>主要数据来源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14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Noto Sans CJK SC"/>
              </a:rPr>
              <a:t>完整 45 条参考文献见调研文档；所有定量数据经两轮原文核对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577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1F77B4"/>
                </a:solidFill>
                <a:latin typeface="Noto Sans CJK SC"/>
              </a:rPr>
              <a:t>▪ 控制对比研究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B2A4A"/>
                </a:solidFill>
                <a:latin typeface="Noto Sans CJK SC"/>
              </a:rPr>
              <a:t>    – Jannaty et al., 2023, Kadikma 14(3)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B2A4A"/>
                </a:solidFill>
                <a:latin typeface="Noto Sans CJK SC"/>
              </a:rPr>
              <a:t>    – Zhang et al., 2025, Ocean Engineering 334:121592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B2A4A"/>
                </a:solidFill>
                <a:latin typeface="Noto Sans CJK SC"/>
              </a:rPr>
              <a:t>    – He et al., 2023, Ocean Engineering（船模实验）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B2A4A"/>
                </a:solidFill>
                <a:latin typeface="Noto Sans CJK SC"/>
              </a:rPr>
              <a:t>    – Zheng et al., 2025, JMSE 13(5):851（自动舵综述）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1F77B4"/>
                </a:solidFill>
                <a:latin typeface="Noto Sans CJK SC"/>
              </a:rPr>
              <a:t>▪ 整定 / 实时 / 稳定性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B2A4A"/>
                </a:solidFill>
                <a:latin typeface="Noto Sans CJK SC"/>
              </a:rPr>
              <a:t>    – Christensen et al., 2025, arXiv:2509.11235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B2A4A"/>
                </a:solidFill>
                <a:latin typeface="Noto Sans CJK SC"/>
              </a:rPr>
              <a:t>    – Hu et al., 2024, JMSE 12(1):94（acados 实测）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B2A4A"/>
                </a:solidFill>
                <a:latin typeface="Noto Sans CJK SC"/>
              </a:rPr>
              <a:t>    – Mayne et al., 2000, Automatica 36(6)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5577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CA02C"/>
                </a:solidFill>
                <a:latin typeface="Noto Sans CJK SC"/>
              </a:rPr>
              <a:t>▪ 节能算法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B2A4A"/>
                </a:solidFill>
                <a:latin typeface="Noto Sans CJK SC"/>
              </a:rPr>
              <a:t>    – Pelić et al., 2023, JMSE 11(3):675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B2A4A"/>
                </a:solidFill>
                <a:latin typeface="Noto Sans CJK SC"/>
              </a:rPr>
              <a:t>    – Du et al., 2019, TR-B 121:88–114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B2A4A"/>
                </a:solidFill>
                <a:latin typeface="Noto Sans CJK SC"/>
              </a:rPr>
              <a:t>    – IMO GreenVoyage2050 / GloMEEP 官方技术评估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B2A4A"/>
                </a:solidFill>
                <a:latin typeface="Noto Sans CJK SC"/>
              </a:rPr>
              <a:t>    – ClassNK-NAPA 全尺度试航（2014）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CA02C"/>
                </a:solidFill>
                <a:latin typeface="Noto Sans CJK SC"/>
              </a:rPr>
              <a:t>▪ 部署案例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B2A4A"/>
                </a:solidFill>
                <a:latin typeface="Noto Sans CJK SC"/>
              </a:rPr>
              <a:t>    – ABB / Wärtsilä-Eniram / Yara / Kongsberg / NAPA / DeepSea / Anschütz / Orca AI 官方资料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B2A4A"/>
                </a:solidFill>
                <a:latin typeface="Noto Sans CJK SC"/>
              </a:rPr>
              <a:t>    – ABS 船舶能效措施咨询报告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Noto Sans CJK SC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Noto Sans CJK SC"/>
              </a:rPr>
              <a:t>谢 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FC5E8"/>
                </a:solidFill>
                <a:latin typeface="Noto Sans CJK SC"/>
              </a:rPr>
              <a:t>完整数据与 45 条参考文献：docs/ship_energy_research/MPC与船舶节能算法调研文档.md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FC5E8"/>
                </a:solidFill>
                <a:latin typeface="Noto Sans CJK SC"/>
              </a:rPr>
              <a:t>所有定量数据经两轮来源核对，修正记录见文档附录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