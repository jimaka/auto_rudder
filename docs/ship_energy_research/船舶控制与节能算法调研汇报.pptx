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</a:rPr>
              <a:t>船舶控制与节能算法调研汇报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9FC5E8"/>
                </a:solidFill>
                <a:latin typeface="Noto Sans CJK SC"/>
              </a:rPr>
              <a:t>MPC vs 传统 PD 自动舵部署对比  ·  船舶节能算法论文与部署案例综述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2026-08-07   |   数据均经两轮来源核对，出处见调研文档附录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汇报提纲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01  背景与驱动：EEXI/CII 法规倒逼节能，MPC 向船舶控制下沉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02  MPC vs PD 自动舵：原理、控制效果、调试难度全方位对比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03  船舶节能五大算法路线：节能率、优缺点与证据强度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04  工业部署案例：ABB / Yara / NAPA / DeepSea / Anschütz / Orca AI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05  分层节能架构与本项目落地建议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背景：节能从「可选项」变为「合规刚需」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法规 + 控制理论双重驱动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8521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F77B4"/>
                </a:solidFill>
                <a:latin typeface="Noto Sans CJK SC"/>
              </a:rPr>
              <a:t>▪ IMO EEXI / CII 强制生效（2023-01-01）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EEXI：≥400 GT，一次性技术能效合规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CII：≥5,000 GT，年度碳强度 A–E 评级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连续 3 年 D 或 1 年 E → 必须提交纠正计划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EU ETS 2024 年起纳入航运，碳成本显性化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F77B4"/>
                </a:solidFill>
                <a:latin typeface="Noto Sans CJK SC"/>
              </a:rPr>
              <a:t>▪ MPC 向船舶控制下沉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嵌入式 QP 求解器成熟：实测 7 ms @ 20 Hz（acados）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船舶航向动态慢（控制周期 0.1–0.2 s），算力足够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学术界大量仿真/船模成果，实船落地仍少</a:t>
            </a:r>
          </a:p>
        </p:txBody>
      </p:sp>
      <p:pic>
        <p:nvPicPr>
          <p:cNvPr id="6" name="Picture 5" descr="fig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359152"/>
            <a:ext cx="5394960" cy="32369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63093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</a:rPr>
              <a:t>船舶节能分层架构总览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MPC vs PD：原理差异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前视预测 + 显式约束 + 多目标代价函数</a:t>
            </a:r>
          </a:p>
        </p:txBody>
      </p:sp>
      <p:pic>
        <p:nvPicPr>
          <p:cNvPr id="5" name="Picture 4" descr="fig2_mpc_princ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63140"/>
            <a:ext cx="6675120" cy="3337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645920"/>
            <a:ext cx="45720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D62728"/>
                </a:solidFill>
                <a:latin typeface="Noto Sans CJK SC"/>
              </a:rPr>
              <a:t>▪ PD/PID 自动舵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δ = Kp·e + Kd·r：看着误差打舵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无模型、几次乘加、单片机可跑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约束靠事后饱和截断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F77B4"/>
                </a:solidFill>
                <a:latin typeface="Noto Sans CJK SC"/>
              </a:rPr>
              <a:t>▪ MPC 自动舵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每周期解一个有限时域优化问题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用 Nomoto 模型预测未来 Np 步响应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舵角 |δ|≤35°、舵速 ≤3°/s 显式入约束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代价函数可计入操舵能量（省油）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控制效果：仿真/船模层面 MPC 全面占优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注意：尚无全尺度实船 MPC vs PID 公开定量对比</a:t>
            </a:r>
          </a:p>
        </p:txBody>
      </p:sp>
      <p:pic>
        <p:nvPicPr>
          <p:cNvPr id="5" name="Picture 4" descr="fig1_step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03400"/>
            <a:ext cx="6675120" cy="3708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0" y="1554480"/>
          <a:ext cx="4663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3756"/>
                <a:gridCol w="2639683"/>
              </a:tblGrid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Sans CJK SC"/>
                        </a:rPr>
                        <a:t>研究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Sans CJK SC"/>
                        </a:rPr>
                        <a:t>关键结果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Jannaty 2023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(护卫舰仿真)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到达目标航向：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MPC 4 s vs PID 15 s</a:t>
                      </a:r>
                    </a:p>
                  </a:txBody>
                  <a:tcPr marL="54864" marR="54864" marT="27432" marB="27432" anchor="ctr"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Zhang 2025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(内河船 NMPC)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平均横偏误差降 82%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(9.497→1.731 m)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Appl. Sci. 2026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(桥区水域)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调节时间 120–160 s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vs PID &gt;600 s</a:t>
                      </a:r>
                    </a:p>
                  </a:txBody>
                  <a:tcPr marL="54864" marR="54864" marT="27432" marB="27432" anchor="ctr"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RA-L 2017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(波浪场机器人)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位置误差降 74%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(MPC vs PD，仿真)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8932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62728"/>
                </a:solidFill>
                <a:latin typeface="Noto Sans CJK SC"/>
              </a:rPr>
              <a:t>⚠ 证据边界：对比几乎全部来自仿真/水池船模；预测模型与仿真模型同源会高估 MPC 优势（He et al., 2023 明确警示）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调试难度：MPC 上船的最大障碍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「模型参数确定是实现 MPC 的最大障碍」—— He et al., 2023 原文</a:t>
            </a:r>
          </a:p>
        </p:txBody>
      </p:sp>
      <p:pic>
        <p:nvPicPr>
          <p:cNvPr id="5" name="Picture 4" descr="fig3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54864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554480"/>
            <a:ext cx="56692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D62728"/>
                </a:solidFill>
                <a:latin typeface="Noto Sans CJK SC"/>
              </a:rPr>
              <a:t>▪ PID 侧：规则成熟、船员可整定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Z-N 临界比例度法（无模型，步骤机械）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Nomoto 极点配置解析公式：Kp=ωn²T/K，Kd=(2ζωnT−1)/K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F77B4"/>
                </a:solidFill>
                <a:latin typeface="Noto Sans CJK SC"/>
              </a:rPr>
              <a:t>▪ MPC 侧：模型 + 多参数双重门槛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需 Z 形/回转试验做系统辨识，模型随装载/污底漂移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Np、Nc、Q、R、采样周期、约束边界多参数耦合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权重整定多靠 trial-and-error（DTU 2025 原文佐证）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稳定性需专门构造（终端约束 / Lyapunov 约束）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▪ 注：雷达图为基于文献证据的主观打分示意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MPC vs PD 部署优缺点小结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33855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298"/>
                <a:gridCol w="4376286"/>
                <a:gridCol w="5171974"/>
              </a:tblGrid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维度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传统 PD/PID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MPC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控制效果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无前瞻、海浪下易无效操舵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响应快、超调小、抗扰强、特定工况舵动作更少</a:t>
                      </a:r>
                    </a:p>
                  </a:txBody>
                  <a:tcPr marL="54864" marR="54864" marT="27432" marB="27432" anchor="ctr"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调试难度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整定规则成熟，船员可现场整定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模型辨识是硬门槛；权重多靠 trial-and-error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实时计算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几次乘加，单片机即可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每周期解 QP/NLP；船舶慢动态下可行（实测 7 ms）</a:t>
                      </a:r>
                    </a:p>
                  </a:txBody>
                  <a:tcPr marL="54864" marR="54864" marT="27432" marB="27432" anchor="ctr"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约束/安全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事后饱和截断，约束下退化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舵角/舵速约束显式满足；稳定性需专门构造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认证与维护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工业生态与船级社认证完备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认证路径不成熟；需控制工程师维护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303520"/>
            <a:ext cx="113385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2CA02C"/>
                </a:solidFill>
                <a:latin typeface="Noto Sans CJK SC"/>
              </a:rPr>
              <a:t>结论性判断：PD/PID 打底保证可靠性，MPC 作为性能增强层；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2CA02C"/>
                </a:solidFill>
                <a:latin typeface="Noto Sans CJK SC"/>
              </a:rPr>
              <a:t>模型辨识与整定自动化（本仓库 auto_tuning 流程）是 MPC 能否落地的前置条件。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船舶节能五大路线：量级差异极大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来源：IMO / 船级社 / 实船试航，均为已核对数据</a:t>
            </a:r>
          </a:p>
        </p:txBody>
      </p:sp>
      <p:pic>
        <p:nvPicPr>
          <p:cNvPr id="5" name="Picture 4" descr="fig4_energy_meas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389" y="1554480"/>
            <a:ext cx="8844741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节能方案优缺点（一）：决策层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节能大头所在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33855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3227"/>
                <a:gridCol w="4038391"/>
                <a:gridCol w="2795809"/>
                <a:gridCol w="2951132"/>
              </a:tblGrid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方案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代表数据（已核对）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优点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缺点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减速航行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23→12 kn 每海里油耗降 72–76%（Pelić 2023）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IMO：主机油耗潜力 10–50%，全船口径 3–12%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杠杆最大；零硬件成本；直接改善 CII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牺牲船期；受租约约束；低速偏离主机最佳负荷点</a:t>
                      </a:r>
                    </a:p>
                  </a:txBody>
                  <a:tcPr marL="54864" marR="54864" marT="27432" marB="27432" anchor="ctr"/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气象航线优化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IMO 口径 ≥3%，集装箱船可达 10%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Li 2022 实船 2.1–5.2%（二手转引）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节能+避离恶劣海况兼得；商用服务成熟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依赖气象预报与增阻模型精度；收益随海况波动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纵倾优化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ClassNK-NAPA 实船试航：纵倾贡献 1.2%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专项研究最多 4%；Eniram 实测 1–5%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几乎零成本（调压载水）；实船背书强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最优纵倾随工况变化；受稳性/装卸约束；幅度偏小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节能方案优缺点（二）：操作层与控制层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33855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9490"/>
                <a:gridCol w="3878981"/>
                <a:gridCol w="2685448"/>
                <a:gridCol w="2834640"/>
              </a:tblGrid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方案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代表数据（已核对）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优点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缺点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MPC 能量管理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(混合动力 EMS)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双层 MPC 比传统 MPC 再省 17.2%（Zhang 2022）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客滚船 MPC-EMS 节油 4.85%（周妍 2024）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滚动时域天然适合负载预测；多目标可编码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全部仿真验证无实船数据；仅限混合动力船型</a:t>
                      </a:r>
                    </a:p>
                  </a:txBody>
                  <a:tcPr marL="54864" marR="54864" marT="27432" marB="27432" anchor="ctr"/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自动舵节能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(减少无效操舵)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IMO：0.1–1.0%；ABS：最高 1%、改造成本 $2 万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MRAS 实船试验 1–3%（van Amerongen 经典）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实施成本最低（软件级）；兼降舵机磨损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单项幅度最小；收益依赖海况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双舵 Toe Angle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(舵系水动力优化)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Anschütz 实测最大 4.7%、平均约 2%（宣称 ≤5%）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自适应模式平均减少舵动作 25%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双舵船额外收益；已有商用产品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仅适用双舵船；厂商数据待第三方复核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工业部署案例：第三方实测集中在 3–10%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厂商宣称值普遍高于实测，引用以船级社/试航数据为准</a:t>
            </a:r>
          </a:p>
        </p:txBody>
      </p:sp>
      <p:pic>
        <p:nvPicPr>
          <p:cNvPr id="5" name="Picture 4" descr="fig5_deploy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25066"/>
            <a:ext cx="6949440" cy="36137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554480"/>
            <a:ext cx="44805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F77B4"/>
                </a:solidFill>
                <a:latin typeface="Noto Sans CJK SC"/>
              </a:rPr>
              <a:t>▪ 规模化部署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ABB OCTOPUS：1000+ 船，回收期仅几个月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DeepSea：EPS 全船队 300 艘，油耗预报误差 0.8%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Orca AI：Seaspan 267+ 船，单船年省约 $10 万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2CA02C"/>
                </a:solidFill>
                <a:latin typeface="Noto Sans CJK SC"/>
              </a:rPr>
              <a:t>▪ 控制层现状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节能自动舵 = 自适应+海浪滤波（Anschütz ECO）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无公开的 MPC 实船自动舵部署案例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印证：门槛不在算力，在模型获取与整定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对本项目（auto_rudder）的落地建议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33855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794"/>
                <a:gridCol w="2519680"/>
                <a:gridCol w="7199085"/>
              </a:tblGrid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阶段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目标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关键动作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短期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1–3 个月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PD 基线交付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Nomoto 极点配置整定（Kp=ωn²T/K，ζ≈1）；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海浪滤波+死区抑制无效操舵（对标 IMO 0.1–1.0% 收益）</a:t>
                      </a:r>
                    </a:p>
                  </a:txBody>
                  <a:tcPr marL="54864" marR="54864" marT="27432" marB="27432" anchor="ctr"/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中期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3–6 个月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MPC 增强层开发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攻克模型在线辨识与权重整定工具化；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嵌入式求解器选型（acados/OSQP）；与 PD 基线 A/B 对比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长期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6–12 个月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分层节能架构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MPC 代价函数计入操舵能量，对接航速/纵倾优化指令；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输出舵机磨损/能耗统计；Lyapunov-based MPC 保稳定性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77840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B2A4A"/>
                </a:solidFill>
                <a:latin typeface="Noto Sans CJK SC"/>
              </a:rPr>
              <a:t>核心逻辑：节能大头在决策层（航速/航线 3–50%），控制层贡献 0.1–1% 但几乎零成本；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B2A4A"/>
                </a:solidFill>
                <a:latin typeface="Noto Sans CJK SC"/>
              </a:rPr>
              <a:t>先把 PD 整定与辨识流程工具化，再让 MPC 平滑接管性能增强。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Noto Sans CJK SC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9FC5E8"/>
                </a:solidFill>
                <a:latin typeface="Noto Sans CJK SC"/>
              </a:rPr>
              <a:t>完整数据与 45 条参考文献：docs/ship_energy_research/MPC与船舶节能算法调研文档.md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9FC5E8"/>
                </a:solidFill>
                <a:latin typeface="Noto Sans CJK SC"/>
              </a:rPr>
              <a:t>所有定量数据经两轮来源核对，修正记录见文档附录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