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53328"/>
            <a:ext cx="12191969" cy="804672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ESC 极值搜索自动调参方案汇报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127248"/>
            <a:ext cx="20116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7E3F2"/>
                </a:solidFill>
                <a:latin typeface="Microsoft YaHei"/>
                <a:ea typeface="Microsoft YaHei"/>
                <a:cs typeface="Microsoft YaHei"/>
              </a:rPr>
              <a:t>船舶自动舵 PD 增益 Kp / Kd 在线微调 —— 原理 · 实现 · 安全 · 仿真验证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A9C3E0"/>
                </a:solidFill>
                <a:latin typeface="Microsoft YaHei"/>
                <a:ea typeface="Microsoft YaHei"/>
                <a:cs typeface="Microsoft YaHei"/>
              </a:rPr>
              <a:t>汇报依据：control/include/auto_tuner.hpp 实现 · 数学推导与代码事实（.scratch/esc_report/）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A9C3E0"/>
                </a:solidFill>
                <a:latin typeface="Microsoft YaHei"/>
                <a:ea typeface="Microsoft YaHei"/>
                <a:cs typeface="Microsoft YaHei"/>
              </a:rPr>
              <a:t>仿真验证：ar_sim --tune（典型船 K=0.2 / T=8，18 个 60 s 评估窗口）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C3E0"/>
                </a:solidFill>
                <a:latin typeface="Microsoft YaHei"/>
                <a:ea typeface="Microsoft YaHei"/>
                <a:cs typeface="Microsoft YaHei"/>
              </a:rPr>
              <a:t>2026-08-21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72784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A3CC"/>
                </a:solidFill>
                <a:latin typeface="Microsoft YaHei"/>
                <a:ea typeface="Microsoft YaHei"/>
                <a:cs typeface="Microsoft YaHei"/>
              </a:rPr>
              <a:t>Extremum Seeking Control · 免模型在线寻优 · 三层调参架构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371600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背景与问题：为什么固定增益不够 · 三层调参架构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5000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5000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04288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被控对象与闭环模型：Nomoto · 极点配置公式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8269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82696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36976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代价函数设计：ITAE + 操舵惩罚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1538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15384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69664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ESC 数学原理：摄动 → 解调 → 积分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48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102352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双参数正交载波：Kp 用 sin / Kd 用 cos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141732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17320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79" y="1371600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时间尺度三分离与稳定性依据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35000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35000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2304288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信号链与实现流程：50 Hz 每拍 + 60 s 窗末结算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328269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3282696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3236976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安全机制四道防线 · 调参生命周期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21538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215384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4169664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仿真验证：辨识 · 载波 · 增益轨迹 · 全链路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5148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514807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5102352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已知限制 · 改进方向 ·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背景与问题：为什么需要在线调参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01 · 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5257800" cy="3611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为什么固定增益不够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Nomoto 参数 K / T 随船速、载况、海况缓变，固定增益无法始终匹配对象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增益调度表只有 12 个分段名义值（速度 × 海况），颗粒度粗、依赖离线标定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人工整定依赖经验、出海标定成本高，且无法在线跟踪参数漂移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保向工况占航行时间绝大多数：增益微调空间直接对应燃油能耗与舵机磨损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指标牵引：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航向保持优化约省 0.1–1% 燃油；操舵频次 ≤ 6 次/分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188720"/>
            <a:ext cx="5605272" cy="932688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61872"/>
            <a:ext cx="5257800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L1  增益调度表（粗调）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速度 × 海况 12 分段名义值 · gain_schedule.hpp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21408"/>
            <a:ext cx="560527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395728"/>
            <a:ext cx="5605272" cy="932688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468880"/>
            <a:ext cx="5257800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L2  极点配置（模型基线）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RLS 辨识 Khat / That → Kp = ωn²That/Khat · auto_tuner.hpp:228-237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328416"/>
            <a:ext cx="560527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602736"/>
            <a:ext cx="5605272" cy="932688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675888"/>
            <a:ext cx="5257800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L3  ESC 在线微调（本方案）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以代价 J 梯度寻优，每窗更新 ≤ ±10% · auto_tuner.hpp:395-426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56048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065776"/>
            <a:ext cx="10881360" cy="11704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分工要点：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ESC 只做基线邻域内的局部微调 —— 平均化理论（Krstić–Wang, Automatica 2000）只保证局部收敛；全局粗调交给调度表与极点配置。三层架构正是这一理论分工的工程落地。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被控对象与闭环模型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02 · 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806440" cy="5212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一阶 Nomoto 模型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T·(dr/dt) + r = K·δ  ⇒  G(s) = ψ(s)/δ(s) = K/[s·(T·s+1)]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K 旋回性指数（1/s）、T 追随性指数（s）；随工况缓变，由 RLS 在线辨识（nomoto_identifier.hpp），只读快照送入 AutoTuner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PD 控制律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δ = Kp·e + Kd·(de/dt)，e = ψr − 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控制律实现 pd_controller.hpp:90；工程环节：0.3° 死区 · 微分低通 τ=0.2 s · 舵角 ±35° / 舵速 10°/s 限幅 · 0.1° 量化（:66-109）；保向工况下近似线性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闭环特征多项式（对照标准二阶）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T·s² + (1 + K·Kd)·s + K·Kp = 0   ↔   s² + 2ζωn·s + ωn² = 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逐项对照：ωn² = K·Kp/T，2ζωn = (1 + K·Kd)/T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115568"/>
            <a:ext cx="5148072" cy="15727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170432"/>
            <a:ext cx="4928616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极点配置（全仓库唯一实现 auto_tuner.hpp:233-234）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Kp = ωn²·That / Khat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Kd = (2·ζ·ωn·That − 1) / Khat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kdRaw &lt; 0 时钳 0（:235）：负 Kd 反向放大振荡，阻尼由对象天然提供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834640"/>
            <a:ext cx="5148072" cy="148132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889504"/>
            <a:ext cx="4928616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稳定门反解（stabilityCheck :247-248）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ωn' = √(Kp·Khat/That)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ζ' = (1 + Kd·Khat) / (2·√(That·Kp·Khat))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与极点配置正/反解严格互逆，配置与门限同口径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462272"/>
            <a:ext cx="5148072" cy="18288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4517136"/>
            <a:ext cx="4928616" cy="17190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目标模态 ζ=0.85、ωn=0.20 rad/s 的物理意义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超调 ≈0.6%（30° 阶跃仅 0.2°），ts ≈ 3/(ζωn) ≈ 17.6 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闭环带宽明显低于波浪遭遇频率（0.31~1.26 rad/s）—— 不打舵对抗波频摇艏，节能口径的正确选择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代价函数设计：误差 + 操舵代价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03 · 代价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5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170432"/>
            <a:ext cx="10963656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J = ∫[0,Tw] ( t·|e(t)| + wU·|δ(t)| + wDu·|dδ/dt| ) dt   ≈   Σ ( t_k·|e_k| + wU·|δ_k| + wDu·|Δδ_k| )·dt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Tw = 60 s · N = 3000 拍 · 非重叠窗、结后清零 · computeJ :214-223 / accumulate :366-367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87168"/>
            <a:ext cx="3602736" cy="230428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615184"/>
            <a:ext cx="3310128" cy="20848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① t·|e| — ITAE 时间加权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早期误差廉价、晚期昂贵：收敛慢被 τ² 惩罚；稳态静差贡献 ∝ Tw²/2，持续消差压力；对峰值不敏感，与“不超调优先”的 ζ=0.85 一致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487168"/>
            <a:ext cx="3602736" cy="230428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15184"/>
            <a:ext cx="3310128" cy="20848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② wU·|δ| — 舵角惩罚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舵诱导阻力 ∝ δ²，|δ| 是其线性代理（符号鲁棒、零开销）；直航保向平均舵角 ≈ 推力损失，对应 0.1–1% 燃油节能口径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87168"/>
            <a:ext cx="3602736" cy="230428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615184"/>
            <a:ext cx="3310128" cy="20848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③ wDu·|dδ/dt| — 舵速惩罚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操舵行程 ∫|dδ/dt|·dt ↔ 液压舵机功耗与磨损；抑制抖振（hunting），护舵机；对应操舵频次 ≤ 6 次/分指标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92624"/>
            <a:ext cx="11183112" cy="13350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84064"/>
            <a:ext cx="10881360" cy="11521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权重即旋钮：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wU=0.01、wDu=0.005。调大操舵权重，ESC 自动收敛到更“懒”的增益 —— 节能口径由此进入调参目标；最优点略偏离纯 ITAE 最优点，属有意设计。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工程细节：窗口样本存 RingBuffer&lt;double,3000&gt;，主循环零堆分配（:479-482）；ITAE 时钟每窗从 0 重启，各窗 J 同口径。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ESC 数学原理（上）：摄动携带梯度信息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04 · 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120640" cy="5212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最优点附近的二次模型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J(θ) ≈ J* + ½·J''·(θ − θ*)²，J'' &gt; 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当前点梯度 = J''·(θc − θ*)：与偏差成正比且带符号 —— 测出梯度即知方向与距离（θc 为去载波中心值）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注入相对摄动（escDither :382-388）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θ(t) = θc·(1 + a·sinωt)，a = 5%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J(t) 谐波分解（系数写全）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J(t) = J0 + a·θc·(∂J/∂θ)·sinωt − ¼·J''·θc²a²·cos2ωt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基波幅值 ∝ 梯度，同相/反相携带符号 → 可被相关检测提取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二倍频不含梯度信息 → 靠整周期平均消除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直流 J0 比基波大几个数量级 → 必须先经 HPF 去除</a:t>
            </a:r>
          </a:p>
        </p:txBody>
      </p:sp>
      <p:pic>
        <p:nvPicPr>
          <p:cNvPr id="10" name="Picture 9" descr="esc_math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24638"/>
            <a:ext cx="5897880" cy="51939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ESC 数学原理（下）：解调 · 平均 · 归一化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04 · 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3112" cy="93268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133856"/>
            <a:ext cx="10963656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核心公式（escStep :399-405）：  ĝ = 2·Σ( y_k·sinφ_k ) / (a·N)  −→  θc·(∂J/∂θ)·ReH(jω)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ωτH ≫ 1 时 ReH → 1，ĝ 恰为“J 对相对摄动的梯度”；系数 2 / a / N 三因子各有严格来历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5349240" cy="411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① HPF 去直流（:369-371）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y_k = αH·(y_{k-1} + c_k − c_{k-1})，αH = τH/(τH+dt)；去直流、留交流</a:t>
            </a:r>
          </a:p>
          <a:p>
            <a:pPr algn="l">
              <a:lnSpc>
                <a:spcPct val="106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② 同相载波解调（:373）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demod += y·sinφ；注入与解调共用同一 escPhase_，因果同相</a:t>
            </a:r>
          </a:p>
          <a:p>
            <a:pPr algn="l">
              <a:lnSpc>
                <a:spcPct val="106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③ 窗口平均（整周期）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均值(sin²ωt)=1/2，均值(cos2ωt·sinωt)=0，直流×sin 均值 0 —— 只留梯度直流</a:t>
            </a:r>
          </a:p>
          <a:p>
            <a:pPr algn="l">
              <a:lnSpc>
                <a:spcPct val="106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④ 归一化 ×2/(aN)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 抵消 sin² 均值 1/2；a 还原单位摄动；N 把求和转均值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04688"/>
            <a:ext cx="5349240" cy="841248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5559552"/>
            <a:ext cx="5120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偏置因子 ReH = (ωτH)²/(1+(ωτH)²)：默认参数仅 0.059（衰减 17 倍），收敛测试配置 0.908</a:t>
            </a:r>
          </a:p>
        </p:txBody>
      </p:sp>
      <p:pic>
        <p:nvPicPr>
          <p:cNvPr id="14" name="Picture 13" descr="esc_math_de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478" y="2212848"/>
            <a:ext cx="4476122" cy="41330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双参数正交载波：Kp 用 sin、Kd 用 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04 · 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4983480" cy="5212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正交载波注入（:384-385）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Kp(t) = Kpc·(1 + a·sinωt)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Kd(t) = Kdc·(1 + a·cosωt)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正交性 ⇒ 两路互不串扰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均值(sinωt·cosωt) = ½·均值(sin2ωt) = 0（整周期严格为零）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ĝ_Kp = 2Σ(y·sinφ)/(aN)，  ĝ_Kd = 2Σ(y·cosφ)/(aN)（:401-405）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关键性质：测的是真梯度 ∇J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每个载波分量的系数 = 该方向全梯度分量（含 Hessian 交叉耦合 H12），不是逐坐标偏导的拼凑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前提与边界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窗口须覆盖整数个载波周期；非整数窗的残余串扰约 0.6%，二倍频泄漏更关键（见“已知限制”）</a:t>
            </a:r>
          </a:p>
        </p:txBody>
      </p:sp>
      <p:pic>
        <p:nvPicPr>
          <p:cNvPr id="10" name="Picture 9" descr="esc_math_2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3373"/>
            <a:ext cx="6035040" cy="4876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时间尺度三分离：ESC 推导的地基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04 · 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3112" cy="84124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133856"/>
            <a:ext cx="10963656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闭环动态 τ ≈ 3/(ζωn) ≈ 18 s   ≪   载波周期 2π/ω（60 ~ 126 s）   ≪   积分器适应（数十分钟，约 18 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21408"/>
            <a:ext cx="521208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闭环 ≪ 载波：每个载波周期内闭环近似到达准稳态，J(θ) 才能当作静态映射做泰勒展开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载波 ≪ 适应：θc 在一个载波周期内几乎不动，“中心值 + 摄动”的分解才有意义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理论背书（Krstić–Wang 2000）：平均化 + 奇异摄动 ⇒ 实用稳定，局部指数收敛到 θ* 的 O(a) 邻域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“局部” ⇒ ESC 只负责基线邻域微调，全局靠极点配置 —— 三层分工的理论依据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校核：测试配置分离比仅约 3 倍（勉强成立）；典型船 18 窗 ≈ 18 min 收敛，远慢于载波</a:t>
            </a:r>
          </a:p>
        </p:txBody>
      </p:sp>
      <p:pic>
        <p:nvPicPr>
          <p:cNvPr id="12" name="Picture 11" descr="esc_math_time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320" y="2121408"/>
            <a:ext cx="4805559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信号链与实现流程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05 · 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10 / 19</a:t>
            </a:r>
          </a:p>
        </p:txBody>
      </p:sp>
      <p:pic>
        <p:nvPicPr>
          <p:cNvPr id="9" name="Picture 8" descr="esc_math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42" y="1078992"/>
            <a:ext cx="7531955" cy="4462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596128"/>
            <a:ext cx="754380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 escPhase_ 驱动注入与解调（因果同相）；窗口非重叠，结算后清零重计；代码位置见图底标注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78992"/>
            <a:ext cx="3456432" cy="248716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188720"/>
            <a:ext cx="3163824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每拍 50 Hz（tick :150-183）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速度门控 → 调度直通 / 周期辨识评估 → accumulate 累积 + 解调 → 窗口计数 → escDither 注入载波 → 返回增益给 PD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12463"/>
            <a:ext cx="3456432" cy="2633472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822191"/>
            <a:ext cx="3163824" cy="2432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窗末 60 s 结算（:333-345）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ĝ 归一化 → LPF 平滑 → 积分更新 → ±10% 限幅 → 清窗 → 稳定门审查 → 接受持久化 / 回退基线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离散化实现与更新律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05 · 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65379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170432"/>
            <a:ext cx="6318504" cy="12618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每拍 HPF（后向欧拉，:369-371）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y_k = αH·(y_{k-1} + c_k − c_{k-1})，  αH = τH/(τH+dt) = 5/5.02 ≈ 0.996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33472"/>
            <a:ext cx="65379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688336"/>
            <a:ext cx="6318504" cy="12618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窗末 LPF（:407-409）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g_w = (1−αL)·g_{w-1} + αL·ĝ_w，  αL = Tw/(τL+Tw) = 60/70 ≈ 0.857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1376"/>
            <a:ext cx="6537960" cy="21031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4206240"/>
            <a:ext cx="6318504" cy="1993391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更新律与限幅（:411-416，clampUpdate :452-461）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θc ← θc − η·g，η = 0.02；  |Δθc| ≤ max(10%·|θc|, 1e-3)；负值钳 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收敛条件：0 &lt; η·θc·J''·ReH &lt; 2（逐窗线性收缩）；J'' 事先未知，η 取保守小步长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远离最优点时 η·ĝ 恒超限 → 实际骑 ±10% 限幅爬坡；近段梯度变小自动进入线性区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115568"/>
            <a:ext cx="4416552" cy="260604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3" y="1225296"/>
            <a:ext cx="4123944" cy="2395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P11 整改教训：系数必须用真实采样周期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LPF 的输入每 60 s 才来一个新样本；若误按 dt=0.02 s 设计，αL = 0.002 与正确值 0.857 差约 430 倍，梯度被衰减 2~3 个数量级，调参结果与初值逐位相同（头注释 :8-12）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3877056"/>
            <a:ext cx="4416552" cy="2377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3986784"/>
            <a:ext cx="4123944" cy="21762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±10% 限幅的双重角色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自适应步长归一化：等效“每窗最多 10%”的固定速率爬坡；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野梯度防火墙：单窗噪声/机动畸变的错误估计最多造成 10% 偏移，且随即被稳定门审查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安全机制：四道防线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06 · 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95544" cy="2157984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252728"/>
            <a:ext cx="5184648" cy="19385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① 稳定门 stabilityCheck（:241-254）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四条件全过才接受更新：Kp &gt; 0；ζ ≥ 0.6；ωn ≤ 0.5；振荡峰-峰 ≤ 5°。与极点配置同一组公式反解模态，配置与门限严格同口径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143000"/>
            <a:ext cx="5495544" cy="2157984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252728"/>
            <a:ext cx="5184648" cy="19385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② 回退基线 revert（:429-432）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结算不过 → 恢复极点配置基线（非上次值），发散路径被硬切断；辨识快照无效 ⇒ 必回退：增益钉在基线，ESC 停摆但不失控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47288"/>
            <a:ext cx="5495544" cy="2157984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57016"/>
            <a:ext cx="5184648" cy="19385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③ 振荡检测 OscillationDetector（:257-292）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误差峰-峰幅值跨完整半周估计；新值取大（保守）+ 0.9/0.1 平滑衰减；参考稳定满 30 s 才喂入（:505），机动期不误判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3447288"/>
            <a:ext cx="5495544" cy="2157984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3557016"/>
            <a:ext cx="5184648" cy="19385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④ 速度门控 + 挂起 suspend（:152, :199-203）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&gt; 15 kn 自动去激活，增益保持不再微调；切出手动时清测量状态、保留基线，防旧数据混入下一窗口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97296"/>
            <a:ext cx="11183112" cy="566928"/>
          </a:xfrm>
          <a:prstGeom prst="roundRect">
            <a:avLst>
              <a:gd name="adj" fmla="val 12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833872"/>
            <a:ext cx="10881360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设计原则：平均化理论不覆盖的环节（限幅 / 回退 / 门控）由确定性代数判据独立兜底 —— 安全不依赖 ESC 收敛性假设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调参生命周期：冷启动 → 收敛 → 漂移重基线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06 · 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2084831" cy="221284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901952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① 冷启动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调度表增益直通（:155）；基线未建立不注载波、不微调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084831"/>
            <a:ext cx="237744" cy="457200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188720"/>
            <a:ext cx="2084831" cy="221284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298448"/>
            <a:ext cx="1901952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② Z 形辨识试验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RLS 每 1 s 一拍、λ=0.98；激励门控 |δ|&gt;3°、|r|&gt;0.5°/s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084831"/>
            <a:ext cx="237744" cy="457200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188720"/>
            <a:ext cx="2084831" cy="221284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1298448"/>
            <a:ext cx="1901952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③ 建立基线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辨识收官 → establishBaseline（:190）：极点配置 + 稳定门 + ESC 重锚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7" y="2084831"/>
            <a:ext cx="237744" cy="457200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5784" y="1188720"/>
            <a:ext cx="2084831" cy="221284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298448"/>
            <a:ext cx="1901952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④ ESC 窗口寻优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60 s/窗梯度更新，±10% 限幅，稳定门逐窗把关，约 18 窗收敛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2084831"/>
            <a:ext cx="237744" cy="457200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0072" y="1188720"/>
            <a:ext cx="2084831" cy="221284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1298448"/>
            <a:ext cx="1901952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⑤ 漂移重基线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|ΔK| / |ΔT| 超 25% → 重新极点配置（:308-329，P12）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75887"/>
            <a:ext cx="11183112" cy="11887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767328"/>
            <a:ext cx="1088136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门控细节：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漂移 25% 阈值内 ESC 自治、不动基线；显式重基线才 rebaseEsc —— 清积分器 / 解调 / HPF / 窗口，但刻意保留载波相位连续（:436-437），避免重锚拍载波突跳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循环：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阶段⑤完成后回到④继续寻优；切出 MANUAL/HOLD 时 suspend，保留基线、清测量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29200"/>
            <a:ext cx="11183112" cy="1298448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120640"/>
            <a:ext cx="10881360" cy="11155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端到端测试佐证：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IdentTrialIdentifiesAndAppliesGains —— 自动 Z 形试验收官 → 辨识 K≈0.2±0.05 / T≈8±2 → PD 增益 ≈ 极点配置 (1.6, 8.6) → 模式自动回到 AUTO_HEADING 闭环（test_autopilot_core.cpp:401-428）；两套测试 17/17 + 17/17 全部通过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仿真验证 ①：RLS 辨识与载波注入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07 · 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14 / 19</a:t>
            </a:r>
          </a:p>
        </p:txBody>
      </p:sp>
      <p:pic>
        <p:nvPicPr>
          <p:cNvPr id="9" name="Picture 8" descr="esc_sim_r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7878"/>
            <a:ext cx="5760720" cy="3652978"/>
          </a:xfrm>
          <a:prstGeom prst="rect">
            <a:avLst/>
          </a:prstGeom>
        </p:spPr>
      </p:pic>
      <p:pic>
        <p:nvPicPr>
          <p:cNvPr id="10" name="Picture 9" descr="esc_sim_di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80" y="1115568"/>
            <a:ext cx="404759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956048"/>
            <a:ext cx="11183112" cy="13898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047488"/>
            <a:ext cx="10881360" cy="12252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RLS 末值 Khat = 0.2375（偏差 +18.8%）、That = 9.5191（+19.0%）：量级正确，足以支撑极点配置基线；残差正是 ESC 的微调对象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±5% sin/cos 载波真实到达 PD 增益（中心 ×(1±5%) 包络内）；全程舵角受 ±35° / 10°/s 限幅保护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基线建立（绿虚线）后 ESC 才启动注载波 —— 载波不持久化，只作用于当拍增益输出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仿真验证 ②：增益轨迹与窗口代价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07 · 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15 / 19</a:t>
            </a:r>
          </a:p>
        </p:txBody>
      </p:sp>
      <p:pic>
        <p:nvPicPr>
          <p:cNvPr id="9" name="Picture 8" descr="esc_sim_g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6459"/>
            <a:ext cx="6675119" cy="4844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188720"/>
            <a:ext cx="4279392" cy="115214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280160"/>
            <a:ext cx="3986784" cy="9692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18 窗 converged = 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典型船 K=0.2 / T=8，ar_sim --tune 全链路仿真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487168"/>
            <a:ext cx="4279392" cy="115214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4" y="2578608"/>
            <a:ext cx="3986784" cy="9692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J：93639.7 → 93221.2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窗口 ITAE 代价 −0.45%（y 轴截断显示窗间差异）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785615"/>
            <a:ext cx="4279392" cy="115214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3877055"/>
            <a:ext cx="3986784" cy="9692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Kp 2.50 → ≈1.5，Kd 12.0 → ≈7.2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增益中心逐窗迁移，单窗更新 ≤ ±10%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084064"/>
            <a:ext cx="4279392" cy="115214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5175503"/>
            <a:ext cx="3986784" cy="9692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前 11 窗下探、后 7 窗平台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进入 O(a) 邻域：限幅爬坡 → 线性收缩两段特征清晰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仿真验证 ③：自动调参全链路概览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07 · 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16 / 19</a:t>
            </a:r>
          </a:p>
        </p:txBody>
      </p:sp>
      <p:pic>
        <p:nvPicPr>
          <p:cNvPr id="9" name="Picture 8" descr="esc_si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8" y="1078992"/>
            <a:ext cx="5263923" cy="5266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1234440"/>
            <a:ext cx="5605272" cy="5029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四联概览：航向误差 / 舵角 / 增益中心 / 窗口 J 结算点，全程 1200 s（20 min）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 ≈ 20 s 基线建立（绿虚线），ESC 启动注载波；增益由极点配置起点逐窗迁移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调参过程不打断正常保向任务：全程舵角受限（±35°）、误差有界、无发散路径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J 结算点阶梯式下移后进入平台 —— 收敛行为与“实用稳定到 O(a) 邻域”的理论预期一致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误差通道的持续摆动来自 Z 形激励与波频尺度运动：属于 J 的不可约成分，非调参失效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已知限制（诚实呈现）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08 · 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179576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默认载波频率与窗口的结构性张力：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ω=0.05 rad/s（周期 125.7 s）vs Tw=60 s → 窗内仅 0.477 个载波周期，整周期正交/归一化全部失效；ReH=0.059 梯度衰减 17 倍；|Δθc| 小于约 4%·θc 后谐波泄漏淹没信号，表现为最优点附近极限环。全部收敛证据均来自成套参数 ω=2π/60（每窗恰 1 个整周期）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76272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240279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HPF 衰减与相位：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ReH = (ωτH)²/(1+(ωτH)²) 只缩步长不改方向；任何相位失配按 cos(失配) 衰减梯度 —— 代码以同一 escPhase_ 因果解调把失配压缩到只剩 HPF 相移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36976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3300984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J 改善 −0.45% 的正确解读：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保向工况 J 由不可约成分主导（波频误差、死区/量化残差、摄动自身代价 ¼J''θc²a²），微调可压缩的只是增益相关部分；方向正确 + 平台收敛即符合预期，降幅小 ≠ 失效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361688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Kd = 0 边界无自有激励：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相对摄动在 Kdc=0 处恒零，该方向梯度数学上不可观测；解锁靠 Hessian 交叉项 + 噪声相关 + absMinUpdate，方向正确性无理论保证（回归测试只锁定行为包络）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58384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422392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噪声与窗口污染：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白噪声近似低估有色波浪噪声方差（缺波浪滤波是高海况最大短板）；机动窗 J 累积与解调无门控，当前靠稳定门 + 回退兜底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改进方向（按优先级）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08 · 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179576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① 参数成套整定（最高优先级）：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正确顺序：先定 Tw → 取 ω = 2πn/Tw（每窗整数个载波周期）→ 配 τH 使 ReH ≥ 0.9；或把默认值改为自洽组合，并在 Params 注释显式标注“默认值需成套重配”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76272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240279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② 高海况适应性：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增加波浪滤波，载波频率避开遭遇谱峰（0.05~0.2 Hz）；按有色谱重估梯度方差；高海况引入 dead-zone / 泄漏项抑制增益抖动传导到舵令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36976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3300984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③ 收敛速率归一化：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J 绝对量级随工况漂移，固定 η=0.02 无法全程归一化（中段速率随工况漂移）→ 自适应步长 / 梯度归一化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361688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④ 代价函数升级（P1 建议）：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操舵附加阻力型 J = E[ ψe² + λδ² ]（λ≈1/12），把舵诱导阻力口径直接写入代价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58384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422392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⑤ 边界与污染修补：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Kd=0 通道改加性摄动 Kd = Kdc + a·sinωt（数学上恢复该方向激励）；参考机动后冻结本窗解调累积，杜绝机动窗 J 污染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09 · 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ESC 极值搜索自动调参方案汇报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3602736" cy="2788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3602736" cy="512064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3602736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47088"/>
            <a:ext cx="3273552" cy="20482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三层调参分工：调度表粗调 → 极点配置给基线 → ESC 只做基线邻域内的局部微调；“局部”是平均化理论的边界，也是架构分工的依据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602736" cy="2788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602736" cy="512064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207008"/>
            <a:ext cx="3602736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847088"/>
            <a:ext cx="3273552" cy="20482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摄动 → 解调 → 积分：ĝ = 2Σ(y·sinφ)/(aN)；sin/cos 正交载波实现 Kp/Kd 双参数无串扰梯度估计；时间尺度三分离是全部推导成立的地基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88720"/>
            <a:ext cx="3602736" cy="2788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188720"/>
            <a:ext cx="3602736" cy="512064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207008"/>
            <a:ext cx="3602736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1847088"/>
            <a:ext cx="3273552" cy="20482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四道防线（稳定门 / 回退 / 振荡检测 / 速度门控）+ 全生命周期门控；仿真 18 窗收敛、J −0.45%、全程舵角受限；测试 17/17 + 17/17 通过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24528"/>
            <a:ext cx="11183112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1083564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ESC 的价值不在“调得更多”，而在 在线、免模型、带安全兜底 地持续微调 —— 把节能口径直接变成调参目标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58384"/>
            <a:ext cx="1118311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谢谢，欢迎讨论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参考：.scratch/esc_report/math_derivation.md · code_facts.md · control/include/auto_tuner.hpp · docs/工程总体分析与ESC方案原理.md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