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53328"/>
            <a:ext cx="12191969" cy="804672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051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RLS 在线辨识方案汇报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27248"/>
            <a:ext cx="20116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7E3F2"/>
                </a:solidFill>
                <a:latin typeface="Microsoft YaHei"/>
                <a:ea typeface="Microsoft YaHei"/>
                <a:cs typeface="Microsoft YaHei"/>
              </a:rPr>
              <a:t>带遗忘因子 λ=0.98 的递归最小二乘 · 在线辨识 Nomoto 参数 K/T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汇报依据：control/include/nomoto_identifier.hpp 实现 · 数学推导与代码事实（.scratch/rls_report/）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仿真验证：ar_sim --ident / --trial（典型船 K=0.2 / T=8，Z 形 ±40°/15 s 激励）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3E0"/>
                </a:solidFill>
                <a:latin typeface="Microsoft YaHei"/>
                <a:ea typeface="Microsoft YaHei"/>
                <a:cs typeface="Microsoft YaHei"/>
              </a:rPr>
              <a:t>2026-08-21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72784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A3CC"/>
                </a:solidFill>
                <a:latin typeface="Microsoft YaHei"/>
                <a:ea typeface="Microsoft YaHei"/>
                <a:cs typeface="Microsoft YaHei"/>
              </a:rPr>
              <a:t>Recursive Least Squares · λ = 0.98 · 三层调参架构 L2 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71600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背景与问题：为什么需要在线辨识 · 三层调参架构中的 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000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04288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被控对象建模：一阶 Nomoto 模型与 K / T 物理意义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8269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36976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回归化与归一化：y = φ</a:t>
            </a:r>
            <a:r>
              <a:rPr sz="15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θ · 条件数治理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153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1538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69664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加权最小二乘目标与正规方程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48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102352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RLS 递推三式：增益 / 新息 / 更新 / 协方差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141732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17320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1371600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遗忘因子 λ=0.98：记忆窗口 · P 发散与保底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35000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350008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304288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激励条件与门控：PE · 稳态直航 T 欠定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28269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3282696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3236976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自降频与工程防御：1 Hz · 差分降噪 · 锚点保护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2153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215384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169664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实现流程与下游消费：极点配置 · 稳定门 · 漂移门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514807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514807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5102352"/>
            <a:ext cx="48920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仿真验证 · 已知限制 · 改进方向 ·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背景与问题：为什么需要在线辨识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01 · 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5257800" cy="3611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K / T 不是常数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水动力导数随船型、航速、载况、水深、海况变化 —— K/T 慢时变，一次离线标定无法覆盖全工况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极点配置公式 Kp = ωn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·T/K、Kd = (2ζωnT - 1)/K 直接以 Khat/That 为输入：辨识误差按比例传入增益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Khat 偏小 25% ⇒ Kp、Kd 偏大 33% —— 辨识精度是三层架构基线质量的定量来源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方案定位：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用带遗忘因子 λ=0.98 的 RLS，从舵角 δ 与艏摇率 r 在线辨识 K/T，供下游建基线与稳定门校验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188720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61872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L1  增益调度表（粗调）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速度 × 海况查表名义值 · gain_schedule.hpp（不依赖 K/T）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21408"/>
            <a:ext cx="560527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395728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L2  RLS 辨识 + 极点配置（本方案）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Khat/That → Kp = ωn</a:t>
            </a:r>
            <a:r>
              <a:rPr sz="1400" b="0" i="0" baseline="300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That/Khat 建基线 · nomoto_identifier.hpp / auto_tuner.hpp:228-237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328416"/>
            <a:ext cx="560527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602736"/>
            <a:ext cx="5605272" cy="932688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75888"/>
            <a:ext cx="525780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L3  ESC 在线微调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基线邻域内梯度寻优，吸收模型残差 · auto_tuner.hpp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56048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065776"/>
            <a:ext cx="10881360" cy="11704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辨识结果的消费方式：</a:t>
            </a:r>
            <a:r>
              <a:rPr sz="15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辨识器只输出只读快照 IdSnapshot{excited, valid, K, T}（auto_tuner.hpp:31-36），不直接改增益 —— 先过 valid 物理门，再经极点配置 + 稳定门 + ±25% 漂移门三重闸才生效（autopilot_core.hpp:176-178）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被控对象建模：一阶 Nomoto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02 · 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806440" cy="5212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从操纵性方程到 Nomoto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Abkowitz 线性模型（横荡 v + 艏摇 r 两自由度）对横荡取准定常近似、消去 v，得集总形式：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I·(dr/dt) + N·r = M·δ   ⇒   T·(dr/dt) + r = K·δ，T = I/N，K = M/N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 有效艏摇惯性、N 等效艏摇阻尼、M 舵效力矩系数；航向稳定船 N&gt;0 ⇒ K&gt;0、T&gt;0（valid() 门限的力学依据，:119-124）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传递函数与阶跃响应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r(s)/δ(s) = K/(T·s+1)；ψ(s)/δ(s) = K/[s·(T·s+1)]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r(t) = K·δ</a:t>
            </a:r>
            <a:r>
              <a:rPr sz="1400" b="0" i="0" baseline="-250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·(1 - e^(-t/T))：稳态增益管 K、上升沿管 T —— 两个参数各管一件事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这决定了可辨识性结构：K 由稳态段数据决定，T 只能由 dr/dt≠0 的瞬态段数据决定（第 9 页门控设计的根源）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115568"/>
            <a:ext cx="5148072" cy="221284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225296"/>
            <a:ext cx="4818888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K — 旋回性指数（1/s）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单位舵角产生的稳态转向率；取值 (0,2]，典型 0.05~0.5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 — 追随性指数（s）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艏摇惯性/阻尼时间尺度，响应滞后舵角约 T 秒；取值 [1,60]，覆盖快艇到大型满载油轮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511296"/>
            <a:ext cx="5148072" cy="14173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3621024"/>
            <a:ext cx="4818888" cy="12161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为什么能在线辨识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K、T 以线性方式出现在回归式中 ⇒ 整个问题归结为（加权）线性最小二乘，无需非线性迭代 —— 这是选 RLS 的数学原因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084064"/>
            <a:ext cx="5148072" cy="124358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5175504"/>
            <a:ext cx="4818888" cy="10607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模型边界：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一阶 Nomoto 是多重近似的产物，横荡动态、舵机饱和/死区、风浪外力矩均在模型外 —— 失配由下游稳定门兜底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回归化与归一化：从微分方程到 y = φ</a:t>
            </a:r>
            <a:r>
              <a:rPr sz="2600" b="1" i="0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03 · 回归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33856"/>
            <a:ext cx="10963656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后向差分 dr_k = (r_k - r_{k-1})/Δt 代入 T·(dr/dt) + r = K·δ，整理得线性参数回归（:3-4, :65-67, :76, :88）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y_k = φ_k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·θ：  y_k = r_k，  φ_k = [δ_k/50,  -dr_k]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，  θ = [K, T]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归一化域：θ</a:t>
            </a:r>
            <a:r>
              <a:rPr sz="1400" b="0" i="0" baseline="-25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= 50K、θ</a:t>
            </a:r>
            <a:r>
              <a:rPr sz="1400" b="0" i="0" baseline="-25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= T；估计完成后反归一化 K = θ</a:t>
            </a:r>
            <a:r>
              <a:rPr sz="1400" b="0" i="0" baseline="-25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/50、T = θ</a:t>
            </a:r>
            <a:r>
              <a:rPr sz="1400" b="0" i="0" baseline="-25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（:112-115）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507492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为什么要归一化（dScale=50 / drScale=1）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原始回归分量量级悬殊：δ 幅度 3°~35°，dr 幅度 0.2~1 deg/s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，信息矩阵对角元之比达 (10/0.5)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≈ 400，工况变化可达 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~10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归一化后 φ</a:t>
            </a:r>
            <a:r>
              <a:rPr sz="1400" b="0" i="0" baseline="-25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∈[-0.7,0.7]、φ</a:t>
            </a:r>
            <a:r>
              <a:rPr sz="1400" b="0" i="0" baseline="-25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为 O(1)，条件数压到 O(1~10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)，协方差初值可取统一 p0 = 1（:23-26）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归一化不改变最小二乘的数学解，只改变数值条件与 P 阵坐标标度 —— P 保底 1e-3 也因此在归一化坐标下才有统一意义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代价：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差分放大噪声 σ_ν = √2·σ_r/Δt —— 50 Hz 直接差分噪声放大 70 倍，靠第 10 页的 1 Hz 自降频压回可用水平</a:t>
            </a:r>
          </a:p>
        </p:txBody>
      </p:sp>
      <p:pic>
        <p:nvPicPr>
          <p:cNvPr id="12" name="Picture 11" descr="rls_math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233709"/>
            <a:ext cx="5989320" cy="2310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加权最小二乘目标与正规方程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最小二乘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6446520" cy="157276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6227064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指数加权目标（λ = 0.98，:18）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J_N(θ) = Σ_{k=1..N} λ^(N-k)·(y_k - φ_k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θ)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当前样本权重 1，a 拍前样本权重 λ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；λ=1 退化为普通最小二乘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6446520" cy="17373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889504"/>
            <a:ext cx="6227064" cy="1627631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梯度置零 ⇒ 加权正规方程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R_N·θ = r_N：  R_N = Σ λ^(N-k)·φ_kφ_k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，  r_N = Σ λ^(N-k)·φ_k·y_k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Hessian = 2R_N：R_N 正定 ⇒ 严格凸、解唯一且全局最小：θ_N = R_N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-1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·r_N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18304"/>
            <a:ext cx="6446520" cy="160934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773168"/>
            <a:ext cx="6227064" cy="14996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递推结构（递推域的遗忘读法）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R_N = λ·R_{N-1} + φ_Nφ_N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，  r_N = λ·r_{N-1} + φ_N·y_N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旧信息整体乘 λ 衰减一拍，再叠加新信息 —— 秩一更新引出下一页的矩阵求逆引理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115568"/>
            <a:ext cx="4416552" cy="248716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1225296"/>
            <a:ext cx="412394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为什么要遗忘因子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等权 LS 隐含“参数恒定”假设：P_N ~ O(1/N)→0、增益 L_N→0，估计器“睡死”，无法跟踪工况漂移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K/T 随航速、载况、水深慢变 —— 需要“旧数据逐渐遗忘、新数据主导”的估计器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749039"/>
            <a:ext cx="4416552" cy="257860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3858768"/>
            <a:ext cx="4123944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为什么选递推而非批处理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批处理每拍要解 2×2 线性方程组并存全部历史；递推形式每拍 O(n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) 更新、无需存历史，且天然携带协方差信息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 维情形每拍仅约 20 次 FLOP，1 Hz 节拍对 ECU 完全无负担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RLS 递推三式：推导要点与代码对照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04 · 递推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3112" cy="21031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33856"/>
            <a:ext cx="10963656" cy="1993391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对 R_N = λR_{N-1} + φφ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用矩阵求逆引理（Woodbury），记 P_N = R_N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-1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，逐步推出四式（2 维显式展开，无矩阵库依赖）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增益   L_N = P_{N-1}φ_N / (λ + φ_N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P_{N-1}φ_N)                    （:79-85，denom 除零保护 1e-12）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新息   e_N = y_N - φ_N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θ_{N-1}          参数更新   θ_N = θ_{N-1} + L_N·e_N          （:88-94）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协方差   P_N = (1/λ)·(P_{N-1} - L_N·φ_N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P_{N-1})          （:97-103，对角保底 1e-3）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关键恒等式 P_Nφ_N = L_N：增益方向 = 新回归量经最新协方差加权后的方向；P 对角元 ∝ 参数估计方差</a:t>
            </a:r>
          </a:p>
        </p:txBody>
      </p:sp>
      <p:pic>
        <p:nvPicPr>
          <p:cNvPr id="11" name="Picture 10" descr="rls_math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406" y="3310128"/>
            <a:ext cx="5692140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遗忘因子 λ=0.98：记忆窗口与 P 的两个极端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05 · 遗忘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8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07492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有效记忆窗口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N_eff = 1/(1-λ) = 50 样本 ≈ 50 s（RLS 拍 1 s）—— 恰好覆盖 Z 形机动 2~3 个换舵周期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半衰期 ln2/ln(1/λ) ≈ 34.3 拍；加权样本平均年龄 λ/(1-λ) = 49 拍（跟踪滞后来源）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偏差–方差权衡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λ 小：窗口短、跟踪快，但有效样本少、估计方差大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λ=0.98：稳态方差压缩系数 (1-λ)/(1+λ) ≈ 0.0101（强滤波），代价是约 49 拍滞后 —— 对分钟级船况漂移够用，秒级突变由重基线兜底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15968"/>
            <a:ext cx="5074920" cy="2011680"/>
          </a:xfrm>
          <a:prstGeom prst="roundRect">
            <a:avLst>
              <a:gd name="adj" fmla="val 7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4425696"/>
            <a:ext cx="4782312" cy="18105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P 的两个极端与防护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发散：无激励时若仍更新，P ≈ P/λ 每拍放大 2.04%，500 拍膨胀 2.2 万倍 ⇒ 门控整拍跳过、P 冻结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塌陷：持续激励下 P→0、增益熄零 ⇒ 对角保底 max(P_ii, 1e-3)（:98,105-106），估计器“永不睡死”</a:t>
            </a:r>
          </a:p>
        </p:txBody>
      </p:sp>
      <p:pic>
        <p:nvPicPr>
          <p:cNvPr id="12" name="Picture 11" descr="rls_math_forge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523744"/>
            <a:ext cx="598932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激励条件与门控：持续激励（PE）的在线实现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06 · 激励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133856"/>
            <a:ext cx="10963656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门控判据（:68-69）：本拍更新  ⇔  |δ| &gt; 3.0°  且  (|r| &gt; 0.5°/s  或  |dr| &gt; 0.2°/s</a:t>
            </a:r>
            <a:r>
              <a:rPr sz="1400" b="0" i="0" baseline="3000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未过门整拍跳过、θ/P 冻结（同时防止 P 发散）；PE 条件要求回归序列不能躺在过原点的一条直线附近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31136"/>
            <a:ext cx="5074920" cy="4114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为什么稳态直航时 T 欠定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直航 dr/dt≈0 ⇒ dr≈0 ⇒ φ ≈ [δ/50, 0]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全躺在坐标轴上，R_N 最小特征值恒为 0，正规方程退化为 r = Kδ：只能定 K，T 方向完全无信息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三条门控各管一件事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|δ|&gt;3°：φ</a:t>
            </a:r>
            <a:r>
              <a:rPr sz="1400" b="0" i="0" baseline="-25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分量能量远离噪声底，保证“输入在激励系统”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|r|&gt;0.5°/s：输出信号超出噪声，保证新息信噪比（K 方向信息质量）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|dr|&gt;0.2°/s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（或条件）：专门保留 r 过零附近的高 dr 瞬态 —— T 信息密度最高的样本恰是 |r| 最小的样本；没有这一条 T 依旧欠定</a:t>
            </a:r>
          </a:p>
        </p:txBody>
      </p:sp>
      <p:pic>
        <p:nvPicPr>
          <p:cNvPr id="12" name="Picture 11" descr="rls_math_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123981"/>
            <a:ext cx="5989320" cy="23108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自降频与工程防御：让差分在物理上可用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07 · 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95544" cy="224942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252728"/>
            <a:ext cx="5184648" cy="2029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自降频 50 Hz → 1 Hz（:57-61）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内部累计真实间隔、满 1 s 才递推一拍（点采样）。辨识对象带宽 1/(2πT) = 0.0027~0.159 Hz，对 0.5 Hz Nyquist 裕度 ≥3 倍（典型船 30 倍）：1 Hz 节拍对一阶 Nomoto 辨识带宽充分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143000"/>
            <a:ext cx="5495544" cy="224942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252728"/>
            <a:ext cx="5184648" cy="2029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差分降噪 50 倍（核心收益）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dr 噪声标准差 ∝ 1/Δt：Δt 从 20 ms 放大到 1 s，噪声压低 50 倍、SNR 提升 2500 倍。σ_r=0.1°/s 时 50 Hz 差分噪声 7.1°/s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（比门限大 35 倍、完全淹没信号），1 Hz 仅 0.14°/s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38728"/>
            <a:ext cx="5495544" cy="224942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48456"/>
            <a:ext cx="5184648" cy="2029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Δt 自测（:58-61）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差分用两次 RLS 拍之间的真实间隔而非名义常数：调用频率偏离 50 Hz 时若用名义 Δt，T 会静默地错一个比例因子且无任何报错 —— 自测把这个语义陷阱从设计上删除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538728"/>
            <a:ext cx="5495544" cy="2249424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648456"/>
            <a:ext cx="5184648" cy="20299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入口防御与差分锚点管理（:50-55, :70-72）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NaN/Inf、|δ|&gt;35°、|r|&gt;30°/s、dt≤0 直接丢弃且不写 prevR_ —— 毛刺若成差分锚点，会被放大成虚假大 dr、恰好骗过 |dr| 门控永久毒化 R_N；未激励拍则正常写锚点维持点采样语义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61888"/>
            <a:ext cx="11183112" cy="402336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989320"/>
            <a:ext cx="1088136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降频不是为了省算力（每拍仅约 20 次 FLOP），而是为了让差分这一回归分量在物理上可用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实现流程与下游消费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08 · 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11 / 17</a:t>
            </a:r>
          </a:p>
        </p:txBody>
      </p:sp>
      <p:pic>
        <p:nvPicPr>
          <p:cNvPr id="9" name="Picture 8" descr="rls_math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8498"/>
            <a:ext cx="7543800" cy="42632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596128"/>
            <a:ext cx="754380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传感器 (δ, r) → 入口校验 → 自降频 → 差分 → 门控 → 归一化回归 → RLS 三式 → valid 物理门 → 只读快照；代码行号见图底标注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78992"/>
            <a:ext cx="3456432" cy="248716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188720"/>
            <a:ext cx="316382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每拍数据流（50 Hz 主循环）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headingControlStep 每拍无条件 update()（autopilot_core.hpp:163）→ 组装 IdSnapshot → tuner.tick() 周期评估（auto_tuner.hpp:158-161，excited &amp;&amp; valid 才进入）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12463"/>
            <a:ext cx="3456432" cy="2633472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822191"/>
            <a:ext cx="3163824" cy="2432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下游三重闸（auto_tuner.hpp）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极点配置 Kp = ωn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That/Khat、Kd = (2ζωnThat - 1)/Khat（:228-237，ζ=0.85、ωn=0.20）→ 稳定门 ζ≥0.6、ωn≤0.5、振荡≤5°（:241-254）→ ±25% 漂移门（:308-313）：门内 ESC 自治，越门显式重基线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①：Khat / That 收敛曲线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09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12 / 17</a:t>
            </a:r>
          </a:p>
        </p:txBody>
      </p:sp>
      <p:pic>
        <p:nvPicPr>
          <p:cNvPr id="9" name="Picture 8" descr="rls_sim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4859"/>
            <a:ext cx="6675120" cy="45277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188720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280160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valid 13 s 置位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Z 形 ±40°/15 s 航向参考，t≈13 s 进入物理门限域，同拍极点配置建立基线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487168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2578608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--ident：Khat=0.2293（+14.7%）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That=9.0723（+13.4%），真值 K=0.2 / T=8；valid=1、excited=1，PASS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785615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3877055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收敛速率与理论一致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误差包络时间常数 ≈ 1/(1-λ) = 50 拍；约 80 s 进入真值 ±25% 容差带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084064"/>
            <a:ext cx="4279392" cy="115214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5175503"/>
            <a:ext cx="3986784" cy="9692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测试基座全绿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test_nomoto_identifier 9/9 · test_autopilot_core(Ident) 2/2 · test_auto_tuner 17/17，全部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②：Z 形辨识试验与激励门控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09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  <p:pic>
        <p:nvPicPr>
          <p:cNvPr id="9" name="Picture 8" descr="rls_sim_zigz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00" y="1115567"/>
            <a:ext cx="4033318" cy="3291840"/>
          </a:xfrm>
          <a:prstGeom prst="rect">
            <a:avLst/>
          </a:prstGeom>
        </p:spPr>
      </p:pic>
      <p:pic>
        <p:nvPicPr>
          <p:cNvPr id="10" name="Picture 9" descr="rls_sim_exc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336" y="4462272"/>
            <a:ext cx="2359047" cy="18836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29400" y="1115568"/>
            <a:ext cx="5056632" cy="2377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225296"/>
            <a:ext cx="4727448" cy="21762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自动 Z 形试验（--trial，P14）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冷启动增益 1.0/0.5、调参器去激活；±20° 舵 / ±20° 航向换舵、4 循环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175 s 收官：Khat = 0.2067（+3.4%）、That = 8.13（+1.6%），valid=1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增益自动应用：Kp = 1.5723、Kd = 8.5277（极点配置 ζ=0.85、ωn=0.20），applied=1，PASS（±25%）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639312"/>
            <a:ext cx="5056632" cy="2688336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749039"/>
            <a:ext cx="4727448" cy="2487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门控着色的信息学读法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 过零 + 高 |dr| 瞬态 7 处（|dr|≈0.5°/s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&gt; 0.2 门限）被“或”条件保留 —— 它们是 T 可辨识的唯一信息源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舵角过零/初段小舵角 8 拍被拒绝：φ 能量不足，整拍跳过，P 冻结不发散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教训（sim --esc 场景注释 :207-212）：旧 ±10°/30 s 阶跃多数样本过不了门 → 辨识有偏、基线假阳性；现用 Z 形 ±40°/15 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仿真验证 ③：三船型收敛对比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09 · 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  <p:pic>
        <p:nvPicPr>
          <p:cNvPr id="9" name="Picture 8" descr="rls_sim_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5772"/>
            <a:ext cx="6675120" cy="4645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88720"/>
            <a:ext cx="42793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t=300 s 处 K/T 相对误差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64208"/>
            <a:ext cx="4279392" cy="96926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1737360"/>
            <a:ext cx="3986784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典型船  K=0.2 / T=8（leg 15 s）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 </a:t>
            </a: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+18.2% / +18.5%</a:t>
            </a: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valid @ 13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761488"/>
            <a:ext cx="4279392" cy="96926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834640"/>
            <a:ext cx="3986784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快船    K=0.5 / T=3（leg 15 s）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 </a:t>
            </a: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+5.9% / +4.1%</a:t>
            </a: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valid @ 27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858768"/>
            <a:ext cx="4279392" cy="96926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931920"/>
            <a:ext cx="3986784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慢船    K=0.1 / T=20（leg 60 s）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误差 </a:t>
            </a: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+2.2% / +1.6%</a:t>
            </a: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valid @ 28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5029200"/>
            <a:ext cx="4279392" cy="129844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5120640"/>
            <a:ext cx="3986784" cy="11155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要点：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慢船 Z 形参考翻转周期须放大至 60 s（≥2T），否则只能观测初始瞬态、T 欠定；三者均远优于 ±25% 漂移门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已知限制（诚实呈现）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10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179576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EIV 衰减偏差：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差分噪声进入回归量本身构成 errors-in-variables：估计向零收缩，系数 ≈ 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/(s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+σ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)。1 Hz 拍 + Z 形激励下 T 存在约 10% 量级系统性偏低倾向；门控选择性采样与降频是对冲手段，不是根治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6272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240279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1 Hz 混叠风险：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无前置抗混叠滤波：&gt;0.5 Hz 的量测噪声（风浪高频、传感器噪声）混叠进辨识带宽；目前靠差分信噪比改善与 λ=0.98 的 50 样本等效平均部分对冲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300984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慢船 + 快换向激励下 T 欠定：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换向周期 ≪ 2T 时只能观测初始瞬态，φ 两个方向喂不饱；仿真要求慢船 leg ≥ 2T（60 s），在线常规操舵场景无此保证，靠门控拒更新 + 下游三重闸兜底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361688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稳态误差点 0.0101：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遗忘因子把稳态误差钉在非零点：系数 (1-λ)/(1+λ) ≈ 1.0101%，即使参数恒定、数据无限也不收缩到真值；P 保底 1e-3 又给误差点加了下界 —— 这是用渐近最优性换跟踪活性的有意交换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58384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FDF3E7"/>
          </a:solidFill>
          <a:ln w="9525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422392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P 保底的次优性：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保底后 P 不再等于加权信息矩阵的严格逆，算法从“有限记忆最优估计”退化为“有界增益次优估计器”；非对角元无保底、无显式对称化，长期浮点累积下对称性漂移未防护（测试未暴露问题）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改进方向（按优先级）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10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179576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① 抗混叠前置低通（最高优先级）：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在 1 Hz 点采样前对 r 加截止 0.2~0.3 Hz 的一/二阶低通，消除高频噪声混叠；同时降低差分噪声底，直接改善 EIV 衰减系数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6272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240279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② EIV 偏差修正：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总最小二乘（TLS）或工具变量（IV）替代普通 LS 口径；或按估计 σ_ν 对 R_N 做噪声补偿（bias-compensated RLS），把 T 的 10% 量级系统性偏低压到 1~2%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300984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③ 自适应遗忘因子：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λ 随激励/新息统计在 0.98~0.995 间调节：机动期加快跟踪、稳态期加大滤波；与门控联动，缓解“偏差–方差”固定权衡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361688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④ 激励编排与 T 欠定防护：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辨识试验按当前 That 自适应选 Z 形 leg 时长（≥2T）；在线监测 R_N 两个特征方向能量比，T 方向长期饥饿时主动提示或安排短时机动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58384"/>
            <a:ext cx="11183112" cy="987552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422392"/>
            <a:ext cx="10561320" cy="8595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⑤ 数值健壮性：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 更新改 UD 分解或显式对称化 P ← (P+P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)/2；非对角元监控；门控阈值与 p0/保底值随噪声水平在线标定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969" cy="411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8778240" cy="6949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5915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BD2EA"/>
                </a:solidFill>
                <a:latin typeface="Microsoft YaHei"/>
                <a:ea typeface="Microsoft YaHei"/>
                <a:cs typeface="Microsoft YaHei"/>
              </a:rPr>
              <a:t>11 · 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83096"/>
            <a:ext cx="1118612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RLS 在线辨识方案汇报 · 船舶自动舵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9672"/>
            <a:ext cx="12618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T·(dr/dt) + r = K·δ 后向差分即线性回归 y = φ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θ；指数加权 λ=0.98 + 矩阵求逆引理推出 RLS 四式；归一化把条件数从 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~10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压到 O(1~10</a:t>
            </a:r>
            <a:r>
              <a:rPr sz="1400" b="0" i="0" baseline="30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)，每拍仅约 20 次 FLOP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 Hz 自降频让差分降噪 50 倍；激励门控（|δ|&gt;3° 且 |r|/|dr| 或条件）是 PE 的在线实现；P 保底防塌陷、锚点管理防毛刺毒化、valid 物理门拒报不合理估计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88720"/>
            <a:ext cx="3602736" cy="2788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B8C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188720"/>
            <a:ext cx="3602736" cy="512064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207008"/>
            <a:ext cx="3602736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847088"/>
            <a:ext cx="3273552" cy="20482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Z 形试验 175 s 收官：Khat +3.4%、That +1.6%；三船型误差均远优于 ±25% 漂移门；valid 13 s 置位建基线；测试 9/9 + 2/2 + 17/17 全部通过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24528"/>
            <a:ext cx="11183112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1083564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RLS 的价值不在“辨得多准”，而在 在线、低开销、带多重工程防御 地给出可信 K/T —— 让极点配置基线始终站在当前船况上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58384"/>
            <a:ext cx="111831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谢谢，欢迎讨论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参考：.scratch/rls_report/math_derivation.md · code_facts.md · control/include/nomoto_identifier.hpp · docs/工程总体分析与ESC方案原理.md §2.3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